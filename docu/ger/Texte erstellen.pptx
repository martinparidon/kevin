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kblatt" id="{8BA1CBBF-90EC-4956-91AA-DE5B91DB3E71}">
          <p14:sldIdLst>
            <p14:sldId id="256"/>
          </p14:sldIdLst>
        </p14:section>
        <p14:section name="Erklärungen zur Dokumentation" id="{65ED7214-C767-430A-B50C-A31F6A7C1BAB}">
          <p14:sldIdLst>
            <p14:sldId id="261"/>
          </p14:sldIdLst>
        </p14:section>
        <p14:section name="Kevin öffnen" id="{5B6BBEDD-0566-412C-8EEA-EE75D48060D2}">
          <p14:sldIdLst>
            <p14:sldId id="258"/>
          </p14:sldIdLst>
        </p14:section>
        <p14:section name="Konfig laden" id="{38FEA78B-3BBE-4C05-AE33-C6803AD76F6C}">
          <p14:sldIdLst>
            <p14:sldId id="259"/>
          </p14:sldIdLst>
        </p14:section>
        <p14:section name="Hauptbildschirm" id="{071F175B-4B0F-41E9-98BE-B57410EDDFDC}">
          <p14:sldIdLst>
            <p14:sldId id="260"/>
            <p14:sldId id="262"/>
            <p14:sldId id="263"/>
            <p14:sldId id="264"/>
            <p14:sldId id="265"/>
            <p14:sldId id="266"/>
            <p14:sldId id="267"/>
            <p14:sldId id="268"/>
            <p14:sldId id="269"/>
          </p14:sldIdLst>
        </p14:section>
        <p14:section name="Bewertungen vornehmen" id="{47CE49E1-7F0E-47B2-BEAD-3296DE2BAEB8}">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ECCEF1-86AC-90F8-60BC-EE51319CF14A}"/>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2E2607A8-16FA-9ED2-5587-234FB4A568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A4F71489-5917-5F81-D278-E4E3AEBB7DA7}"/>
              </a:ext>
            </a:extLst>
          </p:cNvPr>
          <p:cNvSpPr>
            <a:spLocks noGrp="1"/>
          </p:cNvSpPr>
          <p:nvPr>
            <p:ph type="dt" sz="half" idx="10"/>
          </p:nvPr>
        </p:nvSpPr>
        <p:spPr/>
        <p:txBody>
          <a:bodyPr/>
          <a:lstStyle/>
          <a:p>
            <a:fld id="{2C1FA6D3-F7D8-4232-BF39-E3B8D31B8C32}" type="datetimeFigureOut">
              <a:rPr lang="de-DE" smtClean="0"/>
              <a:t>09.04.2026</a:t>
            </a:fld>
            <a:endParaRPr lang="de-DE"/>
          </a:p>
        </p:txBody>
      </p:sp>
      <p:sp>
        <p:nvSpPr>
          <p:cNvPr id="5" name="Fußzeilenplatzhalter 4">
            <a:extLst>
              <a:ext uri="{FF2B5EF4-FFF2-40B4-BE49-F238E27FC236}">
                <a16:creationId xmlns:a16="http://schemas.microsoft.com/office/drawing/2014/main" id="{3E0AD2AC-016D-6984-FC7C-5F2B76BEAAC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18D29C4-B699-22CE-C486-4098F5374827}"/>
              </a:ext>
            </a:extLst>
          </p:cNvPr>
          <p:cNvSpPr>
            <a:spLocks noGrp="1"/>
          </p:cNvSpPr>
          <p:nvPr>
            <p:ph type="sldNum" sz="quarter" idx="12"/>
          </p:nvPr>
        </p:nvSpPr>
        <p:spPr/>
        <p:txBody>
          <a:bodyPr/>
          <a:lstStyle/>
          <a:p>
            <a:fld id="{952CFFC6-3A40-4B89-AC91-67955E81D2BD}" type="slidenum">
              <a:rPr lang="de-DE" smtClean="0"/>
              <a:t>‹Nr.›</a:t>
            </a:fld>
            <a:endParaRPr lang="de-DE"/>
          </a:p>
        </p:txBody>
      </p:sp>
    </p:spTree>
    <p:extLst>
      <p:ext uri="{BB962C8B-B14F-4D97-AF65-F5344CB8AC3E}">
        <p14:creationId xmlns:p14="http://schemas.microsoft.com/office/powerpoint/2010/main" val="2272616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0068BE-AF5B-DC9D-97F8-284806E4882D}"/>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F3E9DBFE-2F28-8F3E-45BA-AFE8D91E1D7A}"/>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EEE02440-71B1-ED4A-3006-9952555D8298}"/>
              </a:ext>
            </a:extLst>
          </p:cNvPr>
          <p:cNvSpPr>
            <a:spLocks noGrp="1"/>
          </p:cNvSpPr>
          <p:nvPr>
            <p:ph type="dt" sz="half" idx="10"/>
          </p:nvPr>
        </p:nvSpPr>
        <p:spPr/>
        <p:txBody>
          <a:bodyPr/>
          <a:lstStyle/>
          <a:p>
            <a:fld id="{2C1FA6D3-F7D8-4232-BF39-E3B8D31B8C32}" type="datetimeFigureOut">
              <a:rPr lang="de-DE" smtClean="0"/>
              <a:t>09.04.2026</a:t>
            </a:fld>
            <a:endParaRPr lang="de-DE"/>
          </a:p>
        </p:txBody>
      </p:sp>
      <p:sp>
        <p:nvSpPr>
          <p:cNvPr id="5" name="Fußzeilenplatzhalter 4">
            <a:extLst>
              <a:ext uri="{FF2B5EF4-FFF2-40B4-BE49-F238E27FC236}">
                <a16:creationId xmlns:a16="http://schemas.microsoft.com/office/drawing/2014/main" id="{B79475AB-16BD-6AD7-7F26-3A084B0B8B2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A24F84B-C1DD-9F3B-E95C-743A9ED167A8}"/>
              </a:ext>
            </a:extLst>
          </p:cNvPr>
          <p:cNvSpPr>
            <a:spLocks noGrp="1"/>
          </p:cNvSpPr>
          <p:nvPr>
            <p:ph type="sldNum" sz="quarter" idx="12"/>
          </p:nvPr>
        </p:nvSpPr>
        <p:spPr/>
        <p:txBody>
          <a:bodyPr/>
          <a:lstStyle/>
          <a:p>
            <a:fld id="{952CFFC6-3A40-4B89-AC91-67955E81D2BD}" type="slidenum">
              <a:rPr lang="de-DE" smtClean="0"/>
              <a:t>‹Nr.›</a:t>
            </a:fld>
            <a:endParaRPr lang="de-DE"/>
          </a:p>
        </p:txBody>
      </p:sp>
    </p:spTree>
    <p:extLst>
      <p:ext uri="{BB962C8B-B14F-4D97-AF65-F5344CB8AC3E}">
        <p14:creationId xmlns:p14="http://schemas.microsoft.com/office/powerpoint/2010/main" val="277711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5C8AA7-4E43-77D5-8ECF-B1D416040B3D}"/>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6122808F-C448-393B-9CAC-185A6B8E48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F988D466-8032-8BE1-7011-E11851DD24F1}"/>
              </a:ext>
            </a:extLst>
          </p:cNvPr>
          <p:cNvSpPr>
            <a:spLocks noGrp="1"/>
          </p:cNvSpPr>
          <p:nvPr>
            <p:ph type="dt" sz="half" idx="10"/>
          </p:nvPr>
        </p:nvSpPr>
        <p:spPr/>
        <p:txBody>
          <a:bodyPr/>
          <a:lstStyle/>
          <a:p>
            <a:fld id="{2C1FA6D3-F7D8-4232-BF39-E3B8D31B8C32}" type="datetimeFigureOut">
              <a:rPr lang="de-DE" smtClean="0"/>
              <a:t>09.04.2026</a:t>
            </a:fld>
            <a:endParaRPr lang="de-DE"/>
          </a:p>
        </p:txBody>
      </p:sp>
      <p:sp>
        <p:nvSpPr>
          <p:cNvPr id="5" name="Fußzeilenplatzhalter 4">
            <a:extLst>
              <a:ext uri="{FF2B5EF4-FFF2-40B4-BE49-F238E27FC236}">
                <a16:creationId xmlns:a16="http://schemas.microsoft.com/office/drawing/2014/main" id="{B7C8B51F-F572-1A02-AD4F-305567A1DD2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53D290A-95A9-9D84-562F-C3D581B2F483}"/>
              </a:ext>
            </a:extLst>
          </p:cNvPr>
          <p:cNvSpPr>
            <a:spLocks noGrp="1"/>
          </p:cNvSpPr>
          <p:nvPr>
            <p:ph type="sldNum" sz="quarter" idx="12"/>
          </p:nvPr>
        </p:nvSpPr>
        <p:spPr/>
        <p:txBody>
          <a:bodyPr/>
          <a:lstStyle/>
          <a:p>
            <a:fld id="{952CFFC6-3A40-4B89-AC91-67955E81D2BD}" type="slidenum">
              <a:rPr lang="de-DE" smtClean="0"/>
              <a:t>‹Nr.›</a:t>
            </a:fld>
            <a:endParaRPr lang="de-DE"/>
          </a:p>
        </p:txBody>
      </p:sp>
    </p:spTree>
    <p:extLst>
      <p:ext uri="{BB962C8B-B14F-4D97-AF65-F5344CB8AC3E}">
        <p14:creationId xmlns:p14="http://schemas.microsoft.com/office/powerpoint/2010/main" val="900711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D05F7A-A2B0-53C7-3C8A-BEEB779ED7FB}"/>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7ECB36FE-A839-0D76-E95A-3259DC11AC7D}"/>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898A575E-B6AD-8C34-571C-475ECEBD9471}"/>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E37FB46B-A495-7623-B1AD-A9E4E662CAFD}"/>
              </a:ext>
            </a:extLst>
          </p:cNvPr>
          <p:cNvSpPr>
            <a:spLocks noGrp="1"/>
          </p:cNvSpPr>
          <p:nvPr>
            <p:ph type="dt" sz="half" idx="10"/>
          </p:nvPr>
        </p:nvSpPr>
        <p:spPr/>
        <p:txBody>
          <a:bodyPr/>
          <a:lstStyle/>
          <a:p>
            <a:fld id="{2C1FA6D3-F7D8-4232-BF39-E3B8D31B8C32}" type="datetimeFigureOut">
              <a:rPr lang="de-DE" smtClean="0"/>
              <a:t>09.04.2026</a:t>
            </a:fld>
            <a:endParaRPr lang="de-DE"/>
          </a:p>
        </p:txBody>
      </p:sp>
      <p:sp>
        <p:nvSpPr>
          <p:cNvPr id="6" name="Fußzeilenplatzhalter 5">
            <a:extLst>
              <a:ext uri="{FF2B5EF4-FFF2-40B4-BE49-F238E27FC236}">
                <a16:creationId xmlns:a16="http://schemas.microsoft.com/office/drawing/2014/main" id="{EC3559E7-EBA4-DBCB-A9F3-F868C09AB4B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85B086EC-EDA1-980B-40FB-74EC8EC021B8}"/>
              </a:ext>
            </a:extLst>
          </p:cNvPr>
          <p:cNvSpPr>
            <a:spLocks noGrp="1"/>
          </p:cNvSpPr>
          <p:nvPr>
            <p:ph type="sldNum" sz="quarter" idx="12"/>
          </p:nvPr>
        </p:nvSpPr>
        <p:spPr/>
        <p:txBody>
          <a:bodyPr/>
          <a:lstStyle/>
          <a:p>
            <a:fld id="{952CFFC6-3A40-4B89-AC91-67955E81D2BD}" type="slidenum">
              <a:rPr lang="de-DE" smtClean="0"/>
              <a:t>‹Nr.›</a:t>
            </a:fld>
            <a:endParaRPr lang="de-DE"/>
          </a:p>
        </p:txBody>
      </p:sp>
    </p:spTree>
    <p:extLst>
      <p:ext uri="{BB962C8B-B14F-4D97-AF65-F5344CB8AC3E}">
        <p14:creationId xmlns:p14="http://schemas.microsoft.com/office/powerpoint/2010/main" val="3033621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533A47-0D2F-C655-203C-97A1C585F75D}"/>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D14C821E-9177-FE0B-C5AB-7825780367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3B4E13FC-27A5-13F4-D6AA-E7DA7A8CA90D}"/>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AFB02F8C-6565-3615-A5D8-A789FFD3AE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3C26AFB4-3A4F-BD39-A461-0A7807EC9136}"/>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34F48E84-A8BF-0E91-F329-7B5DC65B5564}"/>
              </a:ext>
            </a:extLst>
          </p:cNvPr>
          <p:cNvSpPr>
            <a:spLocks noGrp="1"/>
          </p:cNvSpPr>
          <p:nvPr>
            <p:ph type="dt" sz="half" idx="10"/>
          </p:nvPr>
        </p:nvSpPr>
        <p:spPr/>
        <p:txBody>
          <a:bodyPr/>
          <a:lstStyle/>
          <a:p>
            <a:fld id="{2C1FA6D3-F7D8-4232-BF39-E3B8D31B8C32}" type="datetimeFigureOut">
              <a:rPr lang="de-DE" smtClean="0"/>
              <a:t>09.04.2026</a:t>
            </a:fld>
            <a:endParaRPr lang="de-DE"/>
          </a:p>
        </p:txBody>
      </p:sp>
      <p:sp>
        <p:nvSpPr>
          <p:cNvPr id="8" name="Fußzeilenplatzhalter 7">
            <a:extLst>
              <a:ext uri="{FF2B5EF4-FFF2-40B4-BE49-F238E27FC236}">
                <a16:creationId xmlns:a16="http://schemas.microsoft.com/office/drawing/2014/main" id="{101B63ED-98DC-4CF9-48F8-084B31863BD8}"/>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E880DC3D-64C4-EDBA-AE1E-4540FCE37249}"/>
              </a:ext>
            </a:extLst>
          </p:cNvPr>
          <p:cNvSpPr>
            <a:spLocks noGrp="1"/>
          </p:cNvSpPr>
          <p:nvPr>
            <p:ph type="sldNum" sz="quarter" idx="12"/>
          </p:nvPr>
        </p:nvSpPr>
        <p:spPr/>
        <p:txBody>
          <a:bodyPr/>
          <a:lstStyle/>
          <a:p>
            <a:fld id="{952CFFC6-3A40-4B89-AC91-67955E81D2BD}" type="slidenum">
              <a:rPr lang="de-DE" smtClean="0"/>
              <a:t>‹Nr.›</a:t>
            </a:fld>
            <a:endParaRPr lang="de-DE"/>
          </a:p>
        </p:txBody>
      </p:sp>
    </p:spTree>
    <p:extLst>
      <p:ext uri="{BB962C8B-B14F-4D97-AF65-F5344CB8AC3E}">
        <p14:creationId xmlns:p14="http://schemas.microsoft.com/office/powerpoint/2010/main" val="3850246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B56605-2C68-DAF7-0346-F40CB185B671}"/>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3D52DDE5-6386-BDA1-BEB4-3E2B60544047}"/>
              </a:ext>
            </a:extLst>
          </p:cNvPr>
          <p:cNvSpPr>
            <a:spLocks noGrp="1"/>
          </p:cNvSpPr>
          <p:nvPr>
            <p:ph type="dt" sz="half" idx="10"/>
          </p:nvPr>
        </p:nvSpPr>
        <p:spPr/>
        <p:txBody>
          <a:bodyPr/>
          <a:lstStyle/>
          <a:p>
            <a:fld id="{2C1FA6D3-F7D8-4232-BF39-E3B8D31B8C32}" type="datetimeFigureOut">
              <a:rPr lang="de-DE" smtClean="0"/>
              <a:t>09.04.2026</a:t>
            </a:fld>
            <a:endParaRPr lang="de-DE"/>
          </a:p>
        </p:txBody>
      </p:sp>
      <p:sp>
        <p:nvSpPr>
          <p:cNvPr id="4" name="Fußzeilenplatzhalter 3">
            <a:extLst>
              <a:ext uri="{FF2B5EF4-FFF2-40B4-BE49-F238E27FC236}">
                <a16:creationId xmlns:a16="http://schemas.microsoft.com/office/drawing/2014/main" id="{90007A29-7B50-478A-8D6F-1CFA14CB465D}"/>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3C7E30D6-9F21-25C7-F6A7-70A420D8F3C1}"/>
              </a:ext>
            </a:extLst>
          </p:cNvPr>
          <p:cNvSpPr>
            <a:spLocks noGrp="1"/>
          </p:cNvSpPr>
          <p:nvPr>
            <p:ph type="sldNum" sz="quarter" idx="12"/>
          </p:nvPr>
        </p:nvSpPr>
        <p:spPr/>
        <p:txBody>
          <a:bodyPr/>
          <a:lstStyle/>
          <a:p>
            <a:fld id="{952CFFC6-3A40-4B89-AC91-67955E81D2BD}" type="slidenum">
              <a:rPr lang="de-DE" smtClean="0"/>
              <a:t>‹Nr.›</a:t>
            </a:fld>
            <a:endParaRPr lang="de-DE"/>
          </a:p>
        </p:txBody>
      </p:sp>
    </p:spTree>
    <p:extLst>
      <p:ext uri="{BB962C8B-B14F-4D97-AF65-F5344CB8AC3E}">
        <p14:creationId xmlns:p14="http://schemas.microsoft.com/office/powerpoint/2010/main" val="3215179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F7FEBD15-E776-2E91-B436-76C1B4D14B24}"/>
              </a:ext>
            </a:extLst>
          </p:cNvPr>
          <p:cNvSpPr>
            <a:spLocks noGrp="1"/>
          </p:cNvSpPr>
          <p:nvPr>
            <p:ph type="dt" sz="half" idx="10"/>
          </p:nvPr>
        </p:nvSpPr>
        <p:spPr/>
        <p:txBody>
          <a:bodyPr/>
          <a:lstStyle/>
          <a:p>
            <a:fld id="{2C1FA6D3-F7D8-4232-BF39-E3B8D31B8C32}" type="datetimeFigureOut">
              <a:rPr lang="de-DE" smtClean="0"/>
              <a:t>09.04.2026</a:t>
            </a:fld>
            <a:endParaRPr lang="de-DE"/>
          </a:p>
        </p:txBody>
      </p:sp>
      <p:sp>
        <p:nvSpPr>
          <p:cNvPr id="3" name="Fußzeilenplatzhalter 2">
            <a:extLst>
              <a:ext uri="{FF2B5EF4-FFF2-40B4-BE49-F238E27FC236}">
                <a16:creationId xmlns:a16="http://schemas.microsoft.com/office/drawing/2014/main" id="{A231116C-8D14-C900-3516-7C34F259A43F}"/>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C475C005-89FB-1A1A-A6E0-2B08998FDB17}"/>
              </a:ext>
            </a:extLst>
          </p:cNvPr>
          <p:cNvSpPr>
            <a:spLocks noGrp="1"/>
          </p:cNvSpPr>
          <p:nvPr>
            <p:ph type="sldNum" sz="quarter" idx="12"/>
          </p:nvPr>
        </p:nvSpPr>
        <p:spPr/>
        <p:txBody>
          <a:bodyPr/>
          <a:lstStyle/>
          <a:p>
            <a:fld id="{952CFFC6-3A40-4B89-AC91-67955E81D2BD}" type="slidenum">
              <a:rPr lang="de-DE" smtClean="0"/>
              <a:t>‹Nr.›</a:t>
            </a:fld>
            <a:endParaRPr lang="de-DE"/>
          </a:p>
        </p:txBody>
      </p:sp>
    </p:spTree>
    <p:extLst>
      <p:ext uri="{BB962C8B-B14F-4D97-AF65-F5344CB8AC3E}">
        <p14:creationId xmlns:p14="http://schemas.microsoft.com/office/powerpoint/2010/main" val="1738881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A0E356-DC2B-1A5E-BAED-DDA5C4B1A587}"/>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2F9844D8-A020-360A-8EE3-C76CB89560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9D4358F0-7373-FEF4-B4AE-26E7DD1278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CCD4CBF5-4519-A4BB-0BE5-0FB4A5E9D9B3}"/>
              </a:ext>
            </a:extLst>
          </p:cNvPr>
          <p:cNvSpPr>
            <a:spLocks noGrp="1"/>
          </p:cNvSpPr>
          <p:nvPr>
            <p:ph type="dt" sz="half" idx="10"/>
          </p:nvPr>
        </p:nvSpPr>
        <p:spPr/>
        <p:txBody>
          <a:bodyPr/>
          <a:lstStyle/>
          <a:p>
            <a:fld id="{2C1FA6D3-F7D8-4232-BF39-E3B8D31B8C32}" type="datetimeFigureOut">
              <a:rPr lang="de-DE" smtClean="0"/>
              <a:t>09.04.2026</a:t>
            </a:fld>
            <a:endParaRPr lang="de-DE"/>
          </a:p>
        </p:txBody>
      </p:sp>
      <p:sp>
        <p:nvSpPr>
          <p:cNvPr id="6" name="Fußzeilenplatzhalter 5">
            <a:extLst>
              <a:ext uri="{FF2B5EF4-FFF2-40B4-BE49-F238E27FC236}">
                <a16:creationId xmlns:a16="http://schemas.microsoft.com/office/drawing/2014/main" id="{3B789B88-05E2-F551-5BB3-A954A0F681E3}"/>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7B2E0498-D980-F0A5-8E12-DBF056A26ED0}"/>
              </a:ext>
            </a:extLst>
          </p:cNvPr>
          <p:cNvSpPr>
            <a:spLocks noGrp="1"/>
          </p:cNvSpPr>
          <p:nvPr>
            <p:ph type="sldNum" sz="quarter" idx="12"/>
          </p:nvPr>
        </p:nvSpPr>
        <p:spPr/>
        <p:txBody>
          <a:bodyPr/>
          <a:lstStyle/>
          <a:p>
            <a:fld id="{952CFFC6-3A40-4B89-AC91-67955E81D2BD}" type="slidenum">
              <a:rPr lang="de-DE" smtClean="0"/>
              <a:t>‹Nr.›</a:t>
            </a:fld>
            <a:endParaRPr lang="de-DE"/>
          </a:p>
        </p:txBody>
      </p:sp>
    </p:spTree>
    <p:extLst>
      <p:ext uri="{BB962C8B-B14F-4D97-AF65-F5344CB8AC3E}">
        <p14:creationId xmlns:p14="http://schemas.microsoft.com/office/powerpoint/2010/main" val="1381428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A16C33-6E0D-9EF5-AA8F-E3DACF2E70C3}"/>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032E57D3-ACE6-C567-407D-72172F5E46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59D8ACD6-35A2-CFDD-AF67-4D3F9B2395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C194D08B-4D8B-ACD4-945D-2D0055E004F9}"/>
              </a:ext>
            </a:extLst>
          </p:cNvPr>
          <p:cNvSpPr>
            <a:spLocks noGrp="1"/>
          </p:cNvSpPr>
          <p:nvPr>
            <p:ph type="dt" sz="half" idx="10"/>
          </p:nvPr>
        </p:nvSpPr>
        <p:spPr/>
        <p:txBody>
          <a:bodyPr/>
          <a:lstStyle/>
          <a:p>
            <a:fld id="{2C1FA6D3-F7D8-4232-BF39-E3B8D31B8C32}" type="datetimeFigureOut">
              <a:rPr lang="de-DE" smtClean="0"/>
              <a:t>09.04.2026</a:t>
            </a:fld>
            <a:endParaRPr lang="de-DE"/>
          </a:p>
        </p:txBody>
      </p:sp>
      <p:sp>
        <p:nvSpPr>
          <p:cNvPr id="6" name="Fußzeilenplatzhalter 5">
            <a:extLst>
              <a:ext uri="{FF2B5EF4-FFF2-40B4-BE49-F238E27FC236}">
                <a16:creationId xmlns:a16="http://schemas.microsoft.com/office/drawing/2014/main" id="{20AFCD98-638F-5949-BE59-27C6575ECD53}"/>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AD3F1668-4986-BB10-CFAE-DB33C2C169CE}"/>
              </a:ext>
            </a:extLst>
          </p:cNvPr>
          <p:cNvSpPr>
            <a:spLocks noGrp="1"/>
          </p:cNvSpPr>
          <p:nvPr>
            <p:ph type="sldNum" sz="quarter" idx="12"/>
          </p:nvPr>
        </p:nvSpPr>
        <p:spPr/>
        <p:txBody>
          <a:bodyPr/>
          <a:lstStyle/>
          <a:p>
            <a:fld id="{952CFFC6-3A40-4B89-AC91-67955E81D2BD}" type="slidenum">
              <a:rPr lang="de-DE" smtClean="0"/>
              <a:t>‹Nr.›</a:t>
            </a:fld>
            <a:endParaRPr lang="de-DE"/>
          </a:p>
        </p:txBody>
      </p:sp>
    </p:spTree>
    <p:extLst>
      <p:ext uri="{BB962C8B-B14F-4D97-AF65-F5344CB8AC3E}">
        <p14:creationId xmlns:p14="http://schemas.microsoft.com/office/powerpoint/2010/main" val="689001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DE533A-FE9F-D561-7EAA-85123570A0A4}"/>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F6595CAE-D2C3-978E-EBB1-C612C9D0368C}"/>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A1AA0A0-7C0E-E02F-40EA-F5A498E95158}"/>
              </a:ext>
            </a:extLst>
          </p:cNvPr>
          <p:cNvSpPr>
            <a:spLocks noGrp="1"/>
          </p:cNvSpPr>
          <p:nvPr>
            <p:ph type="dt" sz="half" idx="10"/>
          </p:nvPr>
        </p:nvSpPr>
        <p:spPr/>
        <p:txBody>
          <a:bodyPr/>
          <a:lstStyle/>
          <a:p>
            <a:fld id="{2C1FA6D3-F7D8-4232-BF39-E3B8D31B8C32}" type="datetimeFigureOut">
              <a:rPr lang="de-DE" smtClean="0"/>
              <a:t>09.04.2026</a:t>
            </a:fld>
            <a:endParaRPr lang="de-DE"/>
          </a:p>
        </p:txBody>
      </p:sp>
      <p:sp>
        <p:nvSpPr>
          <p:cNvPr id="5" name="Fußzeilenplatzhalter 4">
            <a:extLst>
              <a:ext uri="{FF2B5EF4-FFF2-40B4-BE49-F238E27FC236}">
                <a16:creationId xmlns:a16="http://schemas.microsoft.com/office/drawing/2014/main" id="{2781570A-BA22-36C8-8188-87F812334CE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4A792A6-F455-405D-512C-3DF337BC5869}"/>
              </a:ext>
            </a:extLst>
          </p:cNvPr>
          <p:cNvSpPr>
            <a:spLocks noGrp="1"/>
          </p:cNvSpPr>
          <p:nvPr>
            <p:ph type="sldNum" sz="quarter" idx="12"/>
          </p:nvPr>
        </p:nvSpPr>
        <p:spPr/>
        <p:txBody>
          <a:bodyPr/>
          <a:lstStyle/>
          <a:p>
            <a:fld id="{952CFFC6-3A40-4B89-AC91-67955E81D2BD}" type="slidenum">
              <a:rPr lang="de-DE" smtClean="0"/>
              <a:t>‹Nr.›</a:t>
            </a:fld>
            <a:endParaRPr lang="de-DE"/>
          </a:p>
        </p:txBody>
      </p:sp>
    </p:spTree>
    <p:extLst>
      <p:ext uri="{BB962C8B-B14F-4D97-AF65-F5344CB8AC3E}">
        <p14:creationId xmlns:p14="http://schemas.microsoft.com/office/powerpoint/2010/main" val="4046639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10E4CE31-B56F-4A3F-A844-319E66FD52B8}"/>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957790E4-A5F8-A0FA-6E05-08F149D85413}"/>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2FA1D38-C094-8E3A-42E6-CCE783152957}"/>
              </a:ext>
            </a:extLst>
          </p:cNvPr>
          <p:cNvSpPr>
            <a:spLocks noGrp="1"/>
          </p:cNvSpPr>
          <p:nvPr>
            <p:ph type="dt" sz="half" idx="10"/>
          </p:nvPr>
        </p:nvSpPr>
        <p:spPr/>
        <p:txBody>
          <a:bodyPr/>
          <a:lstStyle/>
          <a:p>
            <a:fld id="{2C1FA6D3-F7D8-4232-BF39-E3B8D31B8C32}" type="datetimeFigureOut">
              <a:rPr lang="de-DE" smtClean="0"/>
              <a:t>09.04.2026</a:t>
            </a:fld>
            <a:endParaRPr lang="de-DE"/>
          </a:p>
        </p:txBody>
      </p:sp>
      <p:sp>
        <p:nvSpPr>
          <p:cNvPr id="5" name="Fußzeilenplatzhalter 4">
            <a:extLst>
              <a:ext uri="{FF2B5EF4-FFF2-40B4-BE49-F238E27FC236}">
                <a16:creationId xmlns:a16="http://schemas.microsoft.com/office/drawing/2014/main" id="{9891F956-CB7D-7B8A-C0B5-19F2FB91328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DD9BCF7-0F70-6DCB-869B-D7427BF679A6}"/>
              </a:ext>
            </a:extLst>
          </p:cNvPr>
          <p:cNvSpPr>
            <a:spLocks noGrp="1"/>
          </p:cNvSpPr>
          <p:nvPr>
            <p:ph type="sldNum" sz="quarter" idx="12"/>
          </p:nvPr>
        </p:nvSpPr>
        <p:spPr/>
        <p:txBody>
          <a:bodyPr/>
          <a:lstStyle/>
          <a:p>
            <a:fld id="{952CFFC6-3A40-4B89-AC91-67955E81D2BD}" type="slidenum">
              <a:rPr lang="de-DE" smtClean="0"/>
              <a:t>‹Nr.›</a:t>
            </a:fld>
            <a:endParaRPr lang="de-DE"/>
          </a:p>
        </p:txBody>
      </p:sp>
    </p:spTree>
    <p:extLst>
      <p:ext uri="{BB962C8B-B14F-4D97-AF65-F5344CB8AC3E}">
        <p14:creationId xmlns:p14="http://schemas.microsoft.com/office/powerpoint/2010/main" val="2802824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DC1D20C2-2CF5-9FFA-B606-0FFA3258ED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16B4F880-54AA-48C5-627E-46244C31AE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A4A35A6-59D4-C934-CE1C-85C66AB3B8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1FA6D3-F7D8-4232-BF39-E3B8D31B8C32}" type="datetimeFigureOut">
              <a:rPr lang="de-DE" smtClean="0"/>
              <a:t>09.04.2026</a:t>
            </a:fld>
            <a:endParaRPr lang="de-DE"/>
          </a:p>
        </p:txBody>
      </p:sp>
      <p:sp>
        <p:nvSpPr>
          <p:cNvPr id="5" name="Fußzeilenplatzhalter 4">
            <a:extLst>
              <a:ext uri="{FF2B5EF4-FFF2-40B4-BE49-F238E27FC236}">
                <a16:creationId xmlns:a16="http://schemas.microsoft.com/office/drawing/2014/main" id="{8D2D5DBD-4587-3814-D386-974D4C6E07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C6896089-5D98-92A0-2099-707A9A4C11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2CFFC6-3A40-4B89-AC91-67955E81D2BD}" type="slidenum">
              <a:rPr lang="de-DE" smtClean="0"/>
              <a:t>‹Nr.›</a:t>
            </a:fld>
            <a:endParaRPr lang="de-DE"/>
          </a:p>
        </p:txBody>
      </p:sp>
    </p:spTree>
    <p:extLst>
      <p:ext uri="{BB962C8B-B14F-4D97-AF65-F5344CB8AC3E}">
        <p14:creationId xmlns:p14="http://schemas.microsoft.com/office/powerpoint/2010/main" val="16797257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slide" Target="slide4.xml"/></Relationships>
</file>

<file path=ppt/slides/_rels/slide12.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4B8C2E-010D-4681-BF0D-9E5C6B2C3CF0}"/>
              </a:ext>
            </a:extLst>
          </p:cNvPr>
          <p:cNvSpPr>
            <a:spLocks noGrp="1"/>
          </p:cNvSpPr>
          <p:nvPr>
            <p:ph type="ctrTitle"/>
          </p:nvPr>
        </p:nvSpPr>
        <p:spPr/>
        <p:txBody>
          <a:bodyPr/>
          <a:lstStyle/>
          <a:p>
            <a:r>
              <a:rPr lang="de-DE" dirty="0"/>
              <a:t>Wie erstelle ich Texte mit Kevin?</a:t>
            </a:r>
          </a:p>
        </p:txBody>
      </p:sp>
    </p:spTree>
    <p:extLst>
      <p:ext uri="{BB962C8B-B14F-4D97-AF65-F5344CB8AC3E}">
        <p14:creationId xmlns:p14="http://schemas.microsoft.com/office/powerpoint/2010/main" val="1465314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24D5CC67-E8E9-4734-B3DD-6972FFA43434}"/>
              </a:ext>
            </a:extLst>
          </p:cNvPr>
          <p:cNvSpPr/>
          <p:nvPr/>
        </p:nvSpPr>
        <p:spPr>
          <a:xfrm>
            <a:off x="6853040" y="4107021"/>
            <a:ext cx="3429000" cy="12684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F94EBF0D-8590-8A05-077A-9956093EB3FA}"/>
              </a:ext>
            </a:extLst>
          </p:cNvPr>
          <p:cNvSpPr/>
          <p:nvPr/>
        </p:nvSpPr>
        <p:spPr>
          <a:xfrm>
            <a:off x="1978025" y="4107020"/>
            <a:ext cx="4211856" cy="12684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85476F67-471B-08A1-CFAB-15AF9D5A0A75}"/>
              </a:ext>
            </a:extLst>
          </p:cNvPr>
          <p:cNvSpPr/>
          <p:nvPr/>
        </p:nvSpPr>
        <p:spPr>
          <a:xfrm>
            <a:off x="6853040" y="2336718"/>
            <a:ext cx="3429000" cy="1231982"/>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a:extLst>
              <a:ext uri="{FF2B5EF4-FFF2-40B4-BE49-F238E27FC236}">
                <a16:creationId xmlns:a16="http://schemas.microsoft.com/office/drawing/2014/main" id="{88A1A122-9782-C9DA-7618-5C614D4C1EA6}"/>
              </a:ext>
            </a:extLst>
          </p:cNvPr>
          <p:cNvSpPr/>
          <p:nvPr/>
        </p:nvSpPr>
        <p:spPr>
          <a:xfrm>
            <a:off x="1978025" y="2300206"/>
            <a:ext cx="4211856" cy="126849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8943A74F-D833-37AD-91B3-1F681668455D}"/>
              </a:ext>
            </a:extLst>
          </p:cNvPr>
          <p:cNvSpPr>
            <a:spLocks noGrp="1"/>
          </p:cNvSpPr>
          <p:nvPr>
            <p:ph type="title"/>
          </p:nvPr>
        </p:nvSpPr>
        <p:spPr/>
        <p:txBody>
          <a:bodyPr/>
          <a:lstStyle/>
          <a:p>
            <a:r>
              <a:rPr lang="de-DE" dirty="0"/>
              <a:t>Erklärungen zur Dokumentation</a:t>
            </a:r>
          </a:p>
        </p:txBody>
      </p:sp>
      <p:cxnSp>
        <p:nvCxnSpPr>
          <p:cNvPr id="4" name="Gerade Verbindung mit Pfeil 3">
            <a:extLst>
              <a:ext uri="{FF2B5EF4-FFF2-40B4-BE49-F238E27FC236}">
                <a16:creationId xmlns:a16="http://schemas.microsoft.com/office/drawing/2014/main" id="{30339C77-AEE8-0CB7-E6FB-38428C5498B4}"/>
              </a:ext>
            </a:extLst>
          </p:cNvPr>
          <p:cNvCxnSpPr>
            <a:cxnSpLocks/>
          </p:cNvCxnSpPr>
          <p:nvPr/>
        </p:nvCxnSpPr>
        <p:spPr>
          <a:xfrm flipH="1" flipV="1">
            <a:off x="2663825" y="2524837"/>
            <a:ext cx="101713" cy="3048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feld 4">
            <a:extLst>
              <a:ext uri="{FF2B5EF4-FFF2-40B4-BE49-F238E27FC236}">
                <a16:creationId xmlns:a16="http://schemas.microsoft.com/office/drawing/2014/main" id="{CF498B2D-E312-1BA0-F28A-36046D7B89D4}"/>
              </a:ext>
            </a:extLst>
          </p:cNvPr>
          <p:cNvSpPr txBox="1"/>
          <p:nvPr/>
        </p:nvSpPr>
        <p:spPr>
          <a:xfrm>
            <a:off x="2765538" y="2497929"/>
            <a:ext cx="2769284" cy="369332"/>
          </a:xfrm>
          <a:prstGeom prst="rect">
            <a:avLst/>
          </a:prstGeom>
          <a:noFill/>
        </p:spPr>
        <p:txBody>
          <a:bodyPr wrap="none" rtlCol="0">
            <a:spAutoFit/>
          </a:bodyPr>
          <a:lstStyle/>
          <a:p>
            <a:r>
              <a:rPr lang="de-DE" dirty="0"/>
              <a:t>Klick (doppelt oder einfach)</a:t>
            </a:r>
          </a:p>
        </p:txBody>
      </p:sp>
      <p:sp>
        <p:nvSpPr>
          <p:cNvPr id="6" name="Textfeld 5">
            <a:extLst>
              <a:ext uri="{FF2B5EF4-FFF2-40B4-BE49-F238E27FC236}">
                <a16:creationId xmlns:a16="http://schemas.microsoft.com/office/drawing/2014/main" id="{40C956CC-FA70-4749-5E00-2DB54DCD8542}"/>
              </a:ext>
            </a:extLst>
          </p:cNvPr>
          <p:cNvSpPr txBox="1"/>
          <p:nvPr/>
        </p:nvSpPr>
        <p:spPr>
          <a:xfrm>
            <a:off x="2143181" y="2838526"/>
            <a:ext cx="301686" cy="369332"/>
          </a:xfrm>
          <a:prstGeom prst="rect">
            <a:avLst/>
          </a:prstGeom>
          <a:noFill/>
          <a:ln>
            <a:noFill/>
          </a:ln>
        </p:spPr>
        <p:txBody>
          <a:bodyPr wrap="none" rtlCol="0">
            <a:spAutoFit/>
          </a:bodyPr>
          <a:lstStyle/>
          <a:p>
            <a:r>
              <a:rPr lang="de-DE" dirty="0"/>
              <a:t>1</a:t>
            </a:r>
          </a:p>
        </p:txBody>
      </p:sp>
      <p:sp>
        <p:nvSpPr>
          <p:cNvPr id="7" name="Textfeld 6">
            <a:extLst>
              <a:ext uri="{FF2B5EF4-FFF2-40B4-BE49-F238E27FC236}">
                <a16:creationId xmlns:a16="http://schemas.microsoft.com/office/drawing/2014/main" id="{40BF3D96-6B00-C8D0-ED97-6E6AB1420EEA}"/>
              </a:ext>
            </a:extLst>
          </p:cNvPr>
          <p:cNvSpPr txBox="1"/>
          <p:nvPr/>
        </p:nvSpPr>
        <p:spPr>
          <a:xfrm>
            <a:off x="2264669" y="3050140"/>
            <a:ext cx="1294585" cy="369332"/>
          </a:xfrm>
          <a:prstGeom prst="rect">
            <a:avLst/>
          </a:prstGeom>
          <a:noFill/>
        </p:spPr>
        <p:txBody>
          <a:bodyPr wrap="none" rtlCol="0">
            <a:spAutoFit/>
          </a:bodyPr>
          <a:lstStyle/>
          <a:p>
            <a:r>
              <a:rPr lang="de-DE" dirty="0"/>
              <a:t>Reihenfolge</a:t>
            </a:r>
          </a:p>
        </p:txBody>
      </p:sp>
      <p:pic>
        <p:nvPicPr>
          <p:cNvPr id="8" name="Grafik 7" descr="Warnung Silhouette">
            <a:extLst>
              <a:ext uri="{FF2B5EF4-FFF2-40B4-BE49-F238E27FC236}">
                <a16:creationId xmlns:a16="http://schemas.microsoft.com/office/drawing/2014/main" id="{5FF29DD8-2F72-E399-4036-4B30E97A0E6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54850" y="2611695"/>
            <a:ext cx="609600" cy="609600"/>
          </a:xfrm>
          <a:prstGeom prst="rect">
            <a:avLst/>
          </a:prstGeom>
        </p:spPr>
      </p:pic>
      <p:sp>
        <p:nvSpPr>
          <p:cNvPr id="9" name="Textfeld 8">
            <a:extLst>
              <a:ext uri="{FF2B5EF4-FFF2-40B4-BE49-F238E27FC236}">
                <a16:creationId xmlns:a16="http://schemas.microsoft.com/office/drawing/2014/main" id="{D2E5F388-E130-8814-AF4D-5BA1CC2C33E4}"/>
              </a:ext>
            </a:extLst>
          </p:cNvPr>
          <p:cNvSpPr txBox="1"/>
          <p:nvPr/>
        </p:nvSpPr>
        <p:spPr>
          <a:xfrm>
            <a:off x="7772300" y="2731829"/>
            <a:ext cx="2361416" cy="369332"/>
          </a:xfrm>
          <a:prstGeom prst="rect">
            <a:avLst/>
          </a:prstGeom>
          <a:noFill/>
        </p:spPr>
        <p:txBody>
          <a:bodyPr wrap="none" rtlCol="0">
            <a:spAutoFit/>
          </a:bodyPr>
          <a:lstStyle/>
          <a:p>
            <a:r>
              <a:rPr lang="de-DE" dirty="0"/>
              <a:t>Erklärende Information</a:t>
            </a:r>
          </a:p>
        </p:txBody>
      </p:sp>
      <p:sp>
        <p:nvSpPr>
          <p:cNvPr id="10" name="Textfeld 9">
            <a:extLst>
              <a:ext uri="{FF2B5EF4-FFF2-40B4-BE49-F238E27FC236}">
                <a16:creationId xmlns:a16="http://schemas.microsoft.com/office/drawing/2014/main" id="{F73DB41B-B776-A64D-9D62-3F9BF3FBA937}"/>
              </a:ext>
            </a:extLst>
          </p:cNvPr>
          <p:cNvSpPr txBox="1"/>
          <p:nvPr/>
        </p:nvSpPr>
        <p:spPr>
          <a:xfrm>
            <a:off x="2673842" y="2829637"/>
            <a:ext cx="301686" cy="369332"/>
          </a:xfrm>
          <a:prstGeom prst="rect">
            <a:avLst/>
          </a:prstGeom>
          <a:noFill/>
          <a:ln>
            <a:noFill/>
          </a:ln>
        </p:spPr>
        <p:txBody>
          <a:bodyPr wrap="none" rtlCol="0">
            <a:spAutoFit/>
          </a:bodyPr>
          <a:lstStyle/>
          <a:p>
            <a:r>
              <a:rPr lang="de-DE" dirty="0"/>
              <a:t>2</a:t>
            </a:r>
          </a:p>
        </p:txBody>
      </p:sp>
      <p:sp>
        <p:nvSpPr>
          <p:cNvPr id="11" name="Textfeld 10">
            <a:extLst>
              <a:ext uri="{FF2B5EF4-FFF2-40B4-BE49-F238E27FC236}">
                <a16:creationId xmlns:a16="http://schemas.microsoft.com/office/drawing/2014/main" id="{310A942F-888C-C6A9-8917-7924126F31C1}"/>
              </a:ext>
            </a:extLst>
          </p:cNvPr>
          <p:cNvSpPr txBox="1"/>
          <p:nvPr/>
        </p:nvSpPr>
        <p:spPr>
          <a:xfrm>
            <a:off x="3173046" y="2829637"/>
            <a:ext cx="301686" cy="369332"/>
          </a:xfrm>
          <a:prstGeom prst="rect">
            <a:avLst/>
          </a:prstGeom>
          <a:noFill/>
          <a:ln>
            <a:noFill/>
          </a:ln>
        </p:spPr>
        <p:txBody>
          <a:bodyPr wrap="none" rtlCol="0">
            <a:spAutoFit/>
          </a:bodyPr>
          <a:lstStyle/>
          <a:p>
            <a:r>
              <a:rPr lang="de-DE" dirty="0"/>
              <a:t>3</a:t>
            </a:r>
          </a:p>
        </p:txBody>
      </p:sp>
      <p:sp>
        <p:nvSpPr>
          <p:cNvPr id="12" name="Textfeld 11">
            <a:extLst>
              <a:ext uri="{FF2B5EF4-FFF2-40B4-BE49-F238E27FC236}">
                <a16:creationId xmlns:a16="http://schemas.microsoft.com/office/drawing/2014/main" id="{B51C54F1-9A6A-66C9-E375-37D0DE854E76}"/>
              </a:ext>
            </a:extLst>
          </p:cNvPr>
          <p:cNvSpPr txBox="1"/>
          <p:nvPr/>
        </p:nvSpPr>
        <p:spPr>
          <a:xfrm>
            <a:off x="3173047" y="4282797"/>
            <a:ext cx="317716" cy="369332"/>
          </a:xfrm>
          <a:prstGeom prst="rect">
            <a:avLst/>
          </a:prstGeom>
          <a:noFill/>
        </p:spPr>
        <p:txBody>
          <a:bodyPr wrap="none" rtlCol="0">
            <a:spAutoFit/>
          </a:bodyPr>
          <a:lstStyle/>
          <a:p>
            <a:r>
              <a:rPr lang="de-DE" dirty="0"/>
              <a:t>A</a:t>
            </a:r>
          </a:p>
        </p:txBody>
      </p:sp>
      <p:sp>
        <p:nvSpPr>
          <p:cNvPr id="13" name="Textfeld 12">
            <a:extLst>
              <a:ext uri="{FF2B5EF4-FFF2-40B4-BE49-F238E27FC236}">
                <a16:creationId xmlns:a16="http://schemas.microsoft.com/office/drawing/2014/main" id="{5C2D60DC-FDDE-1B9D-7A64-BBCBAE73AC69}"/>
              </a:ext>
            </a:extLst>
          </p:cNvPr>
          <p:cNvSpPr txBox="1"/>
          <p:nvPr/>
        </p:nvSpPr>
        <p:spPr>
          <a:xfrm>
            <a:off x="3723383" y="4282797"/>
            <a:ext cx="317716" cy="369332"/>
          </a:xfrm>
          <a:prstGeom prst="rect">
            <a:avLst/>
          </a:prstGeom>
          <a:noFill/>
        </p:spPr>
        <p:txBody>
          <a:bodyPr wrap="none" rtlCol="0">
            <a:spAutoFit/>
          </a:bodyPr>
          <a:lstStyle/>
          <a:p>
            <a:r>
              <a:rPr lang="de-DE" dirty="0"/>
              <a:t>B</a:t>
            </a:r>
          </a:p>
        </p:txBody>
      </p:sp>
      <p:sp>
        <p:nvSpPr>
          <p:cNvPr id="14" name="Textfeld 13">
            <a:extLst>
              <a:ext uri="{FF2B5EF4-FFF2-40B4-BE49-F238E27FC236}">
                <a16:creationId xmlns:a16="http://schemas.microsoft.com/office/drawing/2014/main" id="{6F54EA48-C412-050F-05F5-E1CEF1BD0D63}"/>
              </a:ext>
            </a:extLst>
          </p:cNvPr>
          <p:cNvSpPr txBox="1"/>
          <p:nvPr/>
        </p:nvSpPr>
        <p:spPr>
          <a:xfrm>
            <a:off x="4273719" y="4282797"/>
            <a:ext cx="317716" cy="369332"/>
          </a:xfrm>
          <a:prstGeom prst="rect">
            <a:avLst/>
          </a:prstGeom>
          <a:noFill/>
        </p:spPr>
        <p:txBody>
          <a:bodyPr wrap="none" rtlCol="0">
            <a:spAutoFit/>
          </a:bodyPr>
          <a:lstStyle/>
          <a:p>
            <a:r>
              <a:rPr lang="de-DE" dirty="0"/>
              <a:t>C</a:t>
            </a:r>
          </a:p>
        </p:txBody>
      </p:sp>
      <p:sp>
        <p:nvSpPr>
          <p:cNvPr id="15" name="Textfeld 14">
            <a:extLst>
              <a:ext uri="{FF2B5EF4-FFF2-40B4-BE49-F238E27FC236}">
                <a16:creationId xmlns:a16="http://schemas.microsoft.com/office/drawing/2014/main" id="{44AA14F7-2049-5D9D-908C-BF646279668A}"/>
              </a:ext>
            </a:extLst>
          </p:cNvPr>
          <p:cNvSpPr txBox="1"/>
          <p:nvPr/>
        </p:nvSpPr>
        <p:spPr>
          <a:xfrm>
            <a:off x="2063751" y="4741267"/>
            <a:ext cx="4126130" cy="369332"/>
          </a:xfrm>
          <a:prstGeom prst="rect">
            <a:avLst/>
          </a:prstGeom>
          <a:noFill/>
        </p:spPr>
        <p:txBody>
          <a:bodyPr wrap="none" rtlCol="0">
            <a:spAutoFit/>
          </a:bodyPr>
          <a:lstStyle/>
          <a:p>
            <a:r>
              <a:rPr lang="de-DE" dirty="0"/>
              <a:t>Elemente, die nachfolgend erklärt werden</a:t>
            </a:r>
          </a:p>
        </p:txBody>
      </p:sp>
      <p:sp>
        <p:nvSpPr>
          <p:cNvPr id="20" name="Textfeld 19">
            <a:extLst>
              <a:ext uri="{FF2B5EF4-FFF2-40B4-BE49-F238E27FC236}">
                <a16:creationId xmlns:a16="http://schemas.microsoft.com/office/drawing/2014/main" id="{78FC9B44-245F-7316-5C8F-B9732CB54256}"/>
              </a:ext>
            </a:extLst>
          </p:cNvPr>
          <p:cNvSpPr txBox="1"/>
          <p:nvPr/>
        </p:nvSpPr>
        <p:spPr>
          <a:xfrm>
            <a:off x="8243985" y="4248864"/>
            <a:ext cx="816339" cy="369332"/>
          </a:xfrm>
          <a:prstGeom prst="rect">
            <a:avLst/>
          </a:prstGeom>
          <a:noFill/>
        </p:spPr>
        <p:txBody>
          <a:bodyPr wrap="square">
            <a:spAutoFit/>
          </a:bodyPr>
          <a:lstStyle/>
          <a:p>
            <a:r>
              <a:rPr lang="de-DE" dirty="0"/>
              <a:t>${XYZ}</a:t>
            </a:r>
          </a:p>
        </p:txBody>
      </p:sp>
      <p:sp>
        <p:nvSpPr>
          <p:cNvPr id="22" name="Textfeld 21">
            <a:extLst>
              <a:ext uri="{FF2B5EF4-FFF2-40B4-BE49-F238E27FC236}">
                <a16:creationId xmlns:a16="http://schemas.microsoft.com/office/drawing/2014/main" id="{D638BB31-0958-3F8E-684A-1B3CA53219B2}"/>
              </a:ext>
            </a:extLst>
          </p:cNvPr>
          <p:cNvSpPr txBox="1"/>
          <p:nvPr/>
        </p:nvSpPr>
        <p:spPr>
          <a:xfrm>
            <a:off x="8100546" y="4774088"/>
            <a:ext cx="1103215" cy="369332"/>
          </a:xfrm>
          <a:prstGeom prst="rect">
            <a:avLst/>
          </a:prstGeom>
          <a:noFill/>
        </p:spPr>
        <p:txBody>
          <a:bodyPr wrap="square">
            <a:spAutoFit/>
          </a:bodyPr>
          <a:lstStyle/>
          <a:p>
            <a:r>
              <a:rPr lang="de-DE" dirty="0"/>
              <a:t>Variable</a:t>
            </a:r>
          </a:p>
        </p:txBody>
      </p:sp>
    </p:spTree>
    <p:extLst>
      <p:ext uri="{BB962C8B-B14F-4D97-AF65-F5344CB8AC3E}">
        <p14:creationId xmlns:p14="http://schemas.microsoft.com/office/powerpoint/2010/main" val="3943470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A6585E-EEE0-C3A3-089D-EC757232BDA3}"/>
              </a:ext>
            </a:extLst>
          </p:cNvPr>
          <p:cNvSpPr>
            <a:spLocks noGrp="1"/>
          </p:cNvSpPr>
          <p:nvPr>
            <p:ph type="title"/>
          </p:nvPr>
        </p:nvSpPr>
        <p:spPr/>
        <p:txBody>
          <a:bodyPr/>
          <a:lstStyle/>
          <a:p>
            <a:r>
              <a:rPr lang="de-DE" dirty="0"/>
              <a:t>Kevin öffnen</a:t>
            </a:r>
          </a:p>
        </p:txBody>
      </p:sp>
      <p:pic>
        <p:nvPicPr>
          <p:cNvPr id="18" name="Grafik 17">
            <a:extLst>
              <a:ext uri="{FF2B5EF4-FFF2-40B4-BE49-F238E27FC236}">
                <a16:creationId xmlns:a16="http://schemas.microsoft.com/office/drawing/2014/main" id="{F02963E9-090D-03D4-5876-FC9A39B3A512}"/>
              </a:ext>
            </a:extLst>
          </p:cNvPr>
          <p:cNvPicPr>
            <a:picLocks noChangeAspect="1"/>
          </p:cNvPicPr>
          <p:nvPr/>
        </p:nvPicPr>
        <p:blipFill rotWithShape="1">
          <a:blip r:embed="rId2"/>
          <a:srcRect t="9524" r="63935" b="5129"/>
          <a:stretch>
            <a:fillRect/>
          </a:stretch>
        </p:blipFill>
        <p:spPr>
          <a:xfrm>
            <a:off x="3143348" y="2622953"/>
            <a:ext cx="1920266" cy="2390023"/>
          </a:xfrm>
          <a:prstGeom prst="rect">
            <a:avLst/>
          </a:prstGeom>
        </p:spPr>
      </p:pic>
      <p:cxnSp>
        <p:nvCxnSpPr>
          <p:cNvPr id="19" name="Gerade Verbindung mit Pfeil 18">
            <a:extLst>
              <a:ext uri="{FF2B5EF4-FFF2-40B4-BE49-F238E27FC236}">
                <a16:creationId xmlns:a16="http://schemas.microsoft.com/office/drawing/2014/main" id="{2CDB9F2F-6345-7F71-71C6-A4488986FC2E}"/>
              </a:ext>
            </a:extLst>
          </p:cNvPr>
          <p:cNvCxnSpPr>
            <a:cxnSpLocks/>
          </p:cNvCxnSpPr>
          <p:nvPr/>
        </p:nvCxnSpPr>
        <p:spPr>
          <a:xfrm flipH="1" flipV="1">
            <a:off x="3947080" y="4201248"/>
            <a:ext cx="246583" cy="21693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0" name="Grafik 29">
            <a:extLst>
              <a:ext uri="{FF2B5EF4-FFF2-40B4-BE49-F238E27FC236}">
                <a16:creationId xmlns:a16="http://schemas.microsoft.com/office/drawing/2014/main" id="{AC6AA14C-D87E-DF35-EC52-5F9BB6B7C270}"/>
              </a:ext>
            </a:extLst>
          </p:cNvPr>
          <p:cNvPicPr>
            <a:picLocks noChangeAspect="1"/>
          </p:cNvPicPr>
          <p:nvPr/>
        </p:nvPicPr>
        <p:blipFill>
          <a:blip r:embed="rId3"/>
          <a:stretch>
            <a:fillRect/>
          </a:stretch>
        </p:blipFill>
        <p:spPr>
          <a:xfrm>
            <a:off x="5542475" y="2327985"/>
            <a:ext cx="3171825" cy="2533650"/>
          </a:xfrm>
          <a:prstGeom prst="rect">
            <a:avLst/>
          </a:prstGeom>
        </p:spPr>
      </p:pic>
      <p:cxnSp>
        <p:nvCxnSpPr>
          <p:cNvPr id="32" name="Gerade Verbindung mit Pfeil 31">
            <a:extLst>
              <a:ext uri="{FF2B5EF4-FFF2-40B4-BE49-F238E27FC236}">
                <a16:creationId xmlns:a16="http://schemas.microsoft.com/office/drawing/2014/main" id="{98772387-70D4-8D09-0AA9-895D6E288486}"/>
              </a:ext>
            </a:extLst>
          </p:cNvPr>
          <p:cNvCxnSpPr>
            <a:cxnSpLocks/>
          </p:cNvCxnSpPr>
          <p:nvPr/>
        </p:nvCxnSpPr>
        <p:spPr>
          <a:xfrm flipH="1" flipV="1">
            <a:off x="7875639" y="4048848"/>
            <a:ext cx="296913" cy="34208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DF2D29D6-E5C4-CCC7-1ED7-5B1375A5C5DE}"/>
              </a:ext>
            </a:extLst>
          </p:cNvPr>
          <p:cNvSpPr txBox="1"/>
          <p:nvPr/>
        </p:nvSpPr>
        <p:spPr>
          <a:xfrm>
            <a:off x="4104579" y="4048848"/>
            <a:ext cx="301686" cy="369332"/>
          </a:xfrm>
          <a:prstGeom prst="rect">
            <a:avLst/>
          </a:prstGeom>
          <a:noFill/>
          <a:ln>
            <a:noFill/>
          </a:ln>
        </p:spPr>
        <p:txBody>
          <a:bodyPr wrap="none" rtlCol="0">
            <a:spAutoFit/>
          </a:bodyPr>
          <a:lstStyle/>
          <a:p>
            <a:r>
              <a:rPr lang="de-DE" dirty="0"/>
              <a:t>1</a:t>
            </a:r>
          </a:p>
        </p:txBody>
      </p:sp>
      <p:sp>
        <p:nvSpPr>
          <p:cNvPr id="31" name="Textfeld 30">
            <a:extLst>
              <a:ext uri="{FF2B5EF4-FFF2-40B4-BE49-F238E27FC236}">
                <a16:creationId xmlns:a16="http://schemas.microsoft.com/office/drawing/2014/main" id="{B93D20CD-7AA5-D219-3159-A412B1E308BF}"/>
              </a:ext>
            </a:extLst>
          </p:cNvPr>
          <p:cNvSpPr txBox="1"/>
          <p:nvPr/>
        </p:nvSpPr>
        <p:spPr>
          <a:xfrm>
            <a:off x="8172552" y="4347582"/>
            <a:ext cx="301686" cy="369332"/>
          </a:xfrm>
          <a:prstGeom prst="rect">
            <a:avLst/>
          </a:prstGeom>
          <a:noFill/>
          <a:ln>
            <a:noFill/>
          </a:ln>
        </p:spPr>
        <p:txBody>
          <a:bodyPr wrap="none" rtlCol="0">
            <a:spAutoFit/>
          </a:bodyPr>
          <a:lstStyle/>
          <a:p>
            <a:r>
              <a:rPr lang="de-DE" dirty="0"/>
              <a:t>2</a:t>
            </a:r>
          </a:p>
        </p:txBody>
      </p:sp>
    </p:spTree>
    <p:extLst>
      <p:ext uri="{BB962C8B-B14F-4D97-AF65-F5344CB8AC3E}">
        <p14:creationId xmlns:p14="http://schemas.microsoft.com/office/powerpoint/2010/main" val="3626614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nhaltsplatzhalter 24">
            <a:extLst>
              <a:ext uri="{FF2B5EF4-FFF2-40B4-BE49-F238E27FC236}">
                <a16:creationId xmlns:a16="http://schemas.microsoft.com/office/drawing/2014/main" id="{BCE6F946-959E-F17A-37CD-9719923FBA19}"/>
              </a:ext>
            </a:extLst>
          </p:cNvPr>
          <p:cNvPicPr>
            <a:picLocks noGrp="1" noChangeAspect="1"/>
          </p:cNvPicPr>
          <p:nvPr>
            <p:ph idx="1"/>
          </p:nvPr>
        </p:nvPicPr>
        <p:blipFill>
          <a:blip r:embed="rId2"/>
          <a:stretch>
            <a:fillRect/>
          </a:stretch>
        </p:blipFill>
        <p:spPr>
          <a:xfrm>
            <a:off x="622281" y="1816100"/>
            <a:ext cx="7477339" cy="4351338"/>
          </a:xfrm>
        </p:spPr>
      </p:pic>
      <p:sp>
        <p:nvSpPr>
          <p:cNvPr id="2" name="Titel 1">
            <a:extLst>
              <a:ext uri="{FF2B5EF4-FFF2-40B4-BE49-F238E27FC236}">
                <a16:creationId xmlns:a16="http://schemas.microsoft.com/office/drawing/2014/main" id="{DF5A581C-0DEB-543E-ED94-9AC338274E84}"/>
              </a:ext>
            </a:extLst>
          </p:cNvPr>
          <p:cNvSpPr>
            <a:spLocks noGrp="1"/>
          </p:cNvSpPr>
          <p:nvPr>
            <p:ph type="title"/>
          </p:nvPr>
        </p:nvSpPr>
        <p:spPr/>
        <p:txBody>
          <a:bodyPr/>
          <a:lstStyle/>
          <a:p>
            <a:r>
              <a:rPr lang="de-DE" dirty="0"/>
              <a:t>Konfigurationsdatei laden</a:t>
            </a:r>
          </a:p>
        </p:txBody>
      </p:sp>
      <p:cxnSp>
        <p:nvCxnSpPr>
          <p:cNvPr id="6" name="Gerade Verbindung mit Pfeil 5">
            <a:extLst>
              <a:ext uri="{FF2B5EF4-FFF2-40B4-BE49-F238E27FC236}">
                <a16:creationId xmlns:a16="http://schemas.microsoft.com/office/drawing/2014/main" id="{DFB580F8-F927-7025-0A0F-B267808E0408}"/>
              </a:ext>
            </a:extLst>
          </p:cNvPr>
          <p:cNvCxnSpPr>
            <a:cxnSpLocks/>
          </p:cNvCxnSpPr>
          <p:nvPr/>
        </p:nvCxnSpPr>
        <p:spPr>
          <a:xfrm flipH="1" flipV="1">
            <a:off x="2868653" y="3686969"/>
            <a:ext cx="101713" cy="30480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 name="Gerade Verbindung mit Pfeil 6">
            <a:extLst>
              <a:ext uri="{FF2B5EF4-FFF2-40B4-BE49-F238E27FC236}">
                <a16:creationId xmlns:a16="http://schemas.microsoft.com/office/drawing/2014/main" id="{944BBA54-1549-EB8B-89C4-21F3BC14C9BA}"/>
              </a:ext>
            </a:extLst>
          </p:cNvPr>
          <p:cNvCxnSpPr>
            <a:cxnSpLocks/>
          </p:cNvCxnSpPr>
          <p:nvPr/>
        </p:nvCxnSpPr>
        <p:spPr>
          <a:xfrm>
            <a:off x="5947548" y="5219700"/>
            <a:ext cx="296903" cy="245269"/>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BCFB6FB1-37B3-6EE7-330C-6D7AE7893083}"/>
              </a:ext>
            </a:extLst>
          </p:cNvPr>
          <p:cNvSpPr txBox="1"/>
          <p:nvPr/>
        </p:nvSpPr>
        <p:spPr>
          <a:xfrm>
            <a:off x="8420100" y="3000375"/>
            <a:ext cx="2800350" cy="923330"/>
          </a:xfrm>
          <a:prstGeom prst="rect">
            <a:avLst/>
          </a:prstGeom>
          <a:noFill/>
        </p:spPr>
        <p:txBody>
          <a:bodyPr wrap="square" rtlCol="0">
            <a:spAutoFit/>
          </a:bodyPr>
          <a:lstStyle/>
          <a:p>
            <a:r>
              <a:rPr lang="de-DE" dirty="0"/>
              <a:t>Setzt die Erstellung einer Konfigurationsdatei voraus. Siehe Dokumentation.</a:t>
            </a:r>
          </a:p>
        </p:txBody>
      </p:sp>
      <p:pic>
        <p:nvPicPr>
          <p:cNvPr id="15" name="Grafik 14" descr="Warnung Silhouette">
            <a:extLst>
              <a:ext uri="{FF2B5EF4-FFF2-40B4-BE49-F238E27FC236}">
                <a16:creationId xmlns:a16="http://schemas.microsoft.com/office/drawing/2014/main" id="{6328A411-CE8E-D5ED-0FFB-639F015A4C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55235" y="2390775"/>
            <a:ext cx="609600" cy="609600"/>
          </a:xfrm>
          <a:prstGeom prst="rect">
            <a:avLst/>
          </a:prstGeom>
        </p:spPr>
      </p:pic>
      <p:sp>
        <p:nvSpPr>
          <p:cNvPr id="16" name="Textfeld 15">
            <a:extLst>
              <a:ext uri="{FF2B5EF4-FFF2-40B4-BE49-F238E27FC236}">
                <a16:creationId xmlns:a16="http://schemas.microsoft.com/office/drawing/2014/main" id="{85F90D88-BCAD-FDF0-A9EB-B4871CC37860}"/>
              </a:ext>
            </a:extLst>
          </p:cNvPr>
          <p:cNvSpPr txBox="1"/>
          <p:nvPr/>
        </p:nvSpPr>
        <p:spPr>
          <a:xfrm>
            <a:off x="2919509" y="3991769"/>
            <a:ext cx="301686" cy="369332"/>
          </a:xfrm>
          <a:prstGeom prst="rect">
            <a:avLst/>
          </a:prstGeom>
          <a:noFill/>
        </p:spPr>
        <p:txBody>
          <a:bodyPr wrap="none" rtlCol="0">
            <a:spAutoFit/>
          </a:bodyPr>
          <a:lstStyle/>
          <a:p>
            <a:r>
              <a:rPr lang="de-DE" dirty="0">
                <a:solidFill>
                  <a:schemeClr val="bg1"/>
                </a:solidFill>
              </a:rPr>
              <a:t>1</a:t>
            </a:r>
          </a:p>
        </p:txBody>
      </p:sp>
      <p:sp>
        <p:nvSpPr>
          <p:cNvPr id="17" name="Textfeld 16">
            <a:extLst>
              <a:ext uri="{FF2B5EF4-FFF2-40B4-BE49-F238E27FC236}">
                <a16:creationId xmlns:a16="http://schemas.microsoft.com/office/drawing/2014/main" id="{4717C5C7-CD7C-B07F-2827-B01129E0168A}"/>
              </a:ext>
            </a:extLst>
          </p:cNvPr>
          <p:cNvSpPr txBox="1"/>
          <p:nvPr/>
        </p:nvSpPr>
        <p:spPr>
          <a:xfrm>
            <a:off x="5645862" y="4951452"/>
            <a:ext cx="301686" cy="369332"/>
          </a:xfrm>
          <a:prstGeom prst="rect">
            <a:avLst/>
          </a:prstGeom>
          <a:noFill/>
        </p:spPr>
        <p:txBody>
          <a:bodyPr wrap="none" rtlCol="0">
            <a:spAutoFit/>
          </a:bodyPr>
          <a:lstStyle/>
          <a:p>
            <a:r>
              <a:rPr lang="de-DE" dirty="0">
                <a:solidFill>
                  <a:schemeClr val="bg1"/>
                </a:solidFill>
              </a:rPr>
              <a:t>2</a:t>
            </a:r>
          </a:p>
        </p:txBody>
      </p:sp>
      <p:sp>
        <p:nvSpPr>
          <p:cNvPr id="26" name="Textfeld 25">
            <a:extLst>
              <a:ext uri="{FF2B5EF4-FFF2-40B4-BE49-F238E27FC236}">
                <a16:creationId xmlns:a16="http://schemas.microsoft.com/office/drawing/2014/main" id="{23AC2FB7-753C-CE14-B2EE-E8CAB6CED589}"/>
              </a:ext>
            </a:extLst>
          </p:cNvPr>
          <p:cNvSpPr txBox="1"/>
          <p:nvPr/>
        </p:nvSpPr>
        <p:spPr>
          <a:xfrm>
            <a:off x="8472464" y="4859119"/>
            <a:ext cx="3338536" cy="1200329"/>
          </a:xfrm>
          <a:prstGeom prst="rect">
            <a:avLst/>
          </a:prstGeom>
          <a:noFill/>
        </p:spPr>
        <p:txBody>
          <a:bodyPr wrap="square" rtlCol="0">
            <a:spAutoFit/>
          </a:bodyPr>
          <a:lstStyle/>
          <a:p>
            <a:r>
              <a:rPr lang="de-DE" dirty="0"/>
              <a:t>Neben „.</a:t>
            </a:r>
            <a:r>
              <a:rPr lang="de-DE" dirty="0" err="1"/>
              <a:t>config</a:t>
            </a:r>
            <a:r>
              <a:rPr lang="de-DE" dirty="0"/>
              <a:t>“-Dateien können Sie auch „.</a:t>
            </a:r>
            <a:r>
              <a:rPr lang="de-DE" dirty="0" err="1"/>
              <a:t>session</a:t>
            </a:r>
            <a:r>
              <a:rPr lang="de-DE" dirty="0"/>
              <a:t>“-Dateien über diesen Dialog laden. Mehr dazu, siehe </a:t>
            </a:r>
            <a:r>
              <a:rPr lang="de-DE" dirty="0">
                <a:hlinkClick r:id="rId4" action="ppaction://hlinksldjump"/>
              </a:rPr>
              <a:t>F: Sitzung speichern-Button</a:t>
            </a:r>
            <a:endParaRPr lang="de-DE" dirty="0"/>
          </a:p>
        </p:txBody>
      </p:sp>
      <p:pic>
        <p:nvPicPr>
          <p:cNvPr id="27" name="Grafik 26" descr="Warnung Silhouette">
            <a:extLst>
              <a:ext uri="{FF2B5EF4-FFF2-40B4-BE49-F238E27FC236}">
                <a16:creationId xmlns:a16="http://schemas.microsoft.com/office/drawing/2014/main" id="{F3EBE6F6-C72F-1FC9-386B-87E4C966FE7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07600" y="4249519"/>
            <a:ext cx="609600" cy="609600"/>
          </a:xfrm>
          <a:prstGeom prst="rect">
            <a:avLst/>
          </a:prstGeom>
        </p:spPr>
      </p:pic>
    </p:spTree>
    <p:extLst>
      <p:ext uri="{BB962C8B-B14F-4D97-AF65-F5344CB8AC3E}">
        <p14:creationId xmlns:p14="http://schemas.microsoft.com/office/powerpoint/2010/main" val="226260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nhaltsplatzhalter 14">
            <a:extLst>
              <a:ext uri="{FF2B5EF4-FFF2-40B4-BE49-F238E27FC236}">
                <a16:creationId xmlns:a16="http://schemas.microsoft.com/office/drawing/2014/main" id="{469B17BB-3F52-AF29-7FCE-0994815548C0}"/>
              </a:ext>
            </a:extLst>
          </p:cNvPr>
          <p:cNvPicPr>
            <a:picLocks noGrp="1" noChangeAspect="1"/>
          </p:cNvPicPr>
          <p:nvPr>
            <p:ph idx="1"/>
          </p:nvPr>
        </p:nvPicPr>
        <p:blipFill>
          <a:blip r:embed="rId2"/>
          <a:stretch>
            <a:fillRect/>
          </a:stretch>
        </p:blipFill>
        <p:spPr>
          <a:xfrm>
            <a:off x="920750" y="2019881"/>
            <a:ext cx="10394950" cy="3346213"/>
          </a:xfrm>
        </p:spPr>
      </p:pic>
      <p:sp>
        <p:nvSpPr>
          <p:cNvPr id="2" name="Titel 1">
            <a:extLst>
              <a:ext uri="{FF2B5EF4-FFF2-40B4-BE49-F238E27FC236}">
                <a16:creationId xmlns:a16="http://schemas.microsoft.com/office/drawing/2014/main" id="{751A4627-875B-42F0-BDE1-DDECFC6DB74F}"/>
              </a:ext>
            </a:extLst>
          </p:cNvPr>
          <p:cNvSpPr>
            <a:spLocks noGrp="1"/>
          </p:cNvSpPr>
          <p:nvPr>
            <p:ph type="title"/>
          </p:nvPr>
        </p:nvSpPr>
        <p:spPr/>
        <p:txBody>
          <a:bodyPr/>
          <a:lstStyle/>
          <a:p>
            <a:r>
              <a:rPr lang="de-DE" dirty="0"/>
              <a:t>Übersicht</a:t>
            </a:r>
          </a:p>
        </p:txBody>
      </p:sp>
      <p:sp>
        <p:nvSpPr>
          <p:cNvPr id="9" name="Rechteck 8">
            <a:extLst>
              <a:ext uri="{FF2B5EF4-FFF2-40B4-BE49-F238E27FC236}">
                <a16:creationId xmlns:a16="http://schemas.microsoft.com/office/drawing/2014/main" id="{94CED6CE-97DE-E4F0-B0DF-67668805CAC0}"/>
              </a:ext>
            </a:extLst>
          </p:cNvPr>
          <p:cNvSpPr/>
          <p:nvPr/>
        </p:nvSpPr>
        <p:spPr>
          <a:xfrm>
            <a:off x="1278837" y="2170824"/>
            <a:ext cx="5045763" cy="262066"/>
          </a:xfrm>
          <a:prstGeom prst="rect">
            <a:avLst/>
          </a:prstGeom>
          <a:solidFill>
            <a:srgbClr val="DAE3F3">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301973CD-B7A9-E8CE-6DB0-E8D0BAFACB2D}"/>
              </a:ext>
            </a:extLst>
          </p:cNvPr>
          <p:cNvSpPr/>
          <p:nvPr/>
        </p:nvSpPr>
        <p:spPr>
          <a:xfrm>
            <a:off x="1152524" y="2449737"/>
            <a:ext cx="1095552" cy="352485"/>
          </a:xfrm>
          <a:prstGeom prst="rect">
            <a:avLst/>
          </a:prstGeom>
          <a:solidFill>
            <a:srgbClr val="DAE3F3">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CAC194CD-CB8B-3BD0-EB90-1B84984D1B69}"/>
              </a:ext>
            </a:extLst>
          </p:cNvPr>
          <p:cNvSpPr/>
          <p:nvPr/>
        </p:nvSpPr>
        <p:spPr>
          <a:xfrm>
            <a:off x="1152525" y="2819070"/>
            <a:ext cx="1095551" cy="2003588"/>
          </a:xfrm>
          <a:prstGeom prst="rect">
            <a:avLst/>
          </a:prstGeom>
          <a:solidFill>
            <a:srgbClr val="DAE3F3">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Textfeld 5">
            <a:extLst>
              <a:ext uri="{FF2B5EF4-FFF2-40B4-BE49-F238E27FC236}">
                <a16:creationId xmlns:a16="http://schemas.microsoft.com/office/drawing/2014/main" id="{B45480B2-B4C6-B2DB-B483-0C44647ED917}"/>
              </a:ext>
            </a:extLst>
          </p:cNvPr>
          <p:cNvSpPr txBox="1"/>
          <p:nvPr/>
        </p:nvSpPr>
        <p:spPr>
          <a:xfrm>
            <a:off x="6057576" y="2108266"/>
            <a:ext cx="317716" cy="369332"/>
          </a:xfrm>
          <a:prstGeom prst="rect">
            <a:avLst/>
          </a:prstGeom>
          <a:noFill/>
        </p:spPr>
        <p:txBody>
          <a:bodyPr wrap="none" rtlCol="0">
            <a:spAutoFit/>
          </a:bodyPr>
          <a:lstStyle/>
          <a:p>
            <a:r>
              <a:rPr lang="de-DE" dirty="0"/>
              <a:t>A</a:t>
            </a:r>
          </a:p>
        </p:txBody>
      </p:sp>
      <p:sp>
        <p:nvSpPr>
          <p:cNvPr id="7" name="Textfeld 6">
            <a:extLst>
              <a:ext uri="{FF2B5EF4-FFF2-40B4-BE49-F238E27FC236}">
                <a16:creationId xmlns:a16="http://schemas.microsoft.com/office/drawing/2014/main" id="{16C74445-F3A3-AB8F-FF4D-8B34E7F1651C}"/>
              </a:ext>
            </a:extLst>
          </p:cNvPr>
          <p:cNvSpPr txBox="1"/>
          <p:nvPr/>
        </p:nvSpPr>
        <p:spPr>
          <a:xfrm>
            <a:off x="1904446" y="3515041"/>
            <a:ext cx="317716" cy="369332"/>
          </a:xfrm>
          <a:prstGeom prst="rect">
            <a:avLst/>
          </a:prstGeom>
          <a:noFill/>
        </p:spPr>
        <p:txBody>
          <a:bodyPr wrap="none" rtlCol="0">
            <a:spAutoFit/>
          </a:bodyPr>
          <a:lstStyle/>
          <a:p>
            <a:r>
              <a:rPr lang="de-DE" dirty="0"/>
              <a:t>C</a:t>
            </a:r>
          </a:p>
        </p:txBody>
      </p:sp>
      <p:sp>
        <p:nvSpPr>
          <p:cNvPr id="8" name="Textfeld 7">
            <a:extLst>
              <a:ext uri="{FF2B5EF4-FFF2-40B4-BE49-F238E27FC236}">
                <a16:creationId xmlns:a16="http://schemas.microsoft.com/office/drawing/2014/main" id="{92CE7CE8-DFB2-FCE5-4FBC-F39CA9A67656}"/>
              </a:ext>
            </a:extLst>
          </p:cNvPr>
          <p:cNvSpPr txBox="1"/>
          <p:nvPr/>
        </p:nvSpPr>
        <p:spPr>
          <a:xfrm>
            <a:off x="2014109" y="2506114"/>
            <a:ext cx="317716" cy="369332"/>
          </a:xfrm>
          <a:prstGeom prst="rect">
            <a:avLst/>
          </a:prstGeom>
          <a:noFill/>
        </p:spPr>
        <p:txBody>
          <a:bodyPr wrap="none" rtlCol="0">
            <a:spAutoFit/>
          </a:bodyPr>
          <a:lstStyle/>
          <a:p>
            <a:r>
              <a:rPr lang="de-DE" dirty="0"/>
              <a:t>B</a:t>
            </a:r>
          </a:p>
        </p:txBody>
      </p:sp>
      <p:sp>
        <p:nvSpPr>
          <p:cNvPr id="12" name="Rechteck 11">
            <a:extLst>
              <a:ext uri="{FF2B5EF4-FFF2-40B4-BE49-F238E27FC236}">
                <a16:creationId xmlns:a16="http://schemas.microsoft.com/office/drawing/2014/main" id="{4B3216D4-6641-6EF0-4D15-2677E447CDA3}"/>
              </a:ext>
            </a:extLst>
          </p:cNvPr>
          <p:cNvSpPr/>
          <p:nvPr/>
        </p:nvSpPr>
        <p:spPr>
          <a:xfrm>
            <a:off x="2279735" y="2467745"/>
            <a:ext cx="7430446" cy="279916"/>
          </a:xfrm>
          <a:prstGeom prst="rect">
            <a:avLst/>
          </a:prstGeom>
          <a:solidFill>
            <a:srgbClr val="DAE3F3">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12">
            <a:extLst>
              <a:ext uri="{FF2B5EF4-FFF2-40B4-BE49-F238E27FC236}">
                <a16:creationId xmlns:a16="http://schemas.microsoft.com/office/drawing/2014/main" id="{06B5420C-DF64-913E-C11A-89A0235C02DF}"/>
              </a:ext>
            </a:extLst>
          </p:cNvPr>
          <p:cNvSpPr txBox="1"/>
          <p:nvPr/>
        </p:nvSpPr>
        <p:spPr>
          <a:xfrm>
            <a:off x="5139488" y="2413494"/>
            <a:ext cx="327334" cy="369332"/>
          </a:xfrm>
          <a:prstGeom prst="rect">
            <a:avLst/>
          </a:prstGeom>
          <a:noFill/>
        </p:spPr>
        <p:txBody>
          <a:bodyPr wrap="none" rtlCol="0">
            <a:spAutoFit/>
          </a:bodyPr>
          <a:lstStyle/>
          <a:p>
            <a:r>
              <a:rPr lang="de-DE" dirty="0"/>
              <a:t>D</a:t>
            </a:r>
          </a:p>
        </p:txBody>
      </p:sp>
      <p:sp>
        <p:nvSpPr>
          <p:cNvPr id="14" name="Rechteck 13">
            <a:extLst>
              <a:ext uri="{FF2B5EF4-FFF2-40B4-BE49-F238E27FC236}">
                <a16:creationId xmlns:a16="http://schemas.microsoft.com/office/drawing/2014/main" id="{036713EC-A9AF-94D0-4E3E-7F1D69278F48}"/>
              </a:ext>
            </a:extLst>
          </p:cNvPr>
          <p:cNvSpPr/>
          <p:nvPr/>
        </p:nvSpPr>
        <p:spPr>
          <a:xfrm>
            <a:off x="2279735" y="2792369"/>
            <a:ext cx="7430446" cy="2025524"/>
          </a:xfrm>
          <a:prstGeom prst="rect">
            <a:avLst/>
          </a:prstGeom>
          <a:solidFill>
            <a:srgbClr val="DAE3F3">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Textfeld 15">
            <a:extLst>
              <a:ext uri="{FF2B5EF4-FFF2-40B4-BE49-F238E27FC236}">
                <a16:creationId xmlns:a16="http://schemas.microsoft.com/office/drawing/2014/main" id="{F0775639-E00E-4CD5-C9CF-5AD34258BC36}"/>
              </a:ext>
            </a:extLst>
          </p:cNvPr>
          <p:cNvSpPr txBox="1"/>
          <p:nvPr/>
        </p:nvSpPr>
        <p:spPr>
          <a:xfrm>
            <a:off x="5668108" y="3515960"/>
            <a:ext cx="296876" cy="369332"/>
          </a:xfrm>
          <a:prstGeom prst="rect">
            <a:avLst/>
          </a:prstGeom>
          <a:noFill/>
        </p:spPr>
        <p:txBody>
          <a:bodyPr wrap="none" rtlCol="0">
            <a:spAutoFit/>
          </a:bodyPr>
          <a:lstStyle/>
          <a:p>
            <a:r>
              <a:rPr lang="de-DE" dirty="0"/>
              <a:t>E</a:t>
            </a:r>
          </a:p>
        </p:txBody>
      </p:sp>
      <p:sp>
        <p:nvSpPr>
          <p:cNvPr id="17" name="Rechteck 16">
            <a:extLst>
              <a:ext uri="{FF2B5EF4-FFF2-40B4-BE49-F238E27FC236}">
                <a16:creationId xmlns:a16="http://schemas.microsoft.com/office/drawing/2014/main" id="{84863E34-DCB0-3547-1D6C-E9CAD46AAF6F}"/>
              </a:ext>
            </a:extLst>
          </p:cNvPr>
          <p:cNvSpPr/>
          <p:nvPr/>
        </p:nvSpPr>
        <p:spPr>
          <a:xfrm>
            <a:off x="9749802" y="2477598"/>
            <a:ext cx="570128" cy="279916"/>
          </a:xfrm>
          <a:prstGeom prst="rect">
            <a:avLst/>
          </a:prstGeom>
          <a:solidFill>
            <a:srgbClr val="DAE3F3">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Textfeld 17">
            <a:extLst>
              <a:ext uri="{FF2B5EF4-FFF2-40B4-BE49-F238E27FC236}">
                <a16:creationId xmlns:a16="http://schemas.microsoft.com/office/drawing/2014/main" id="{A2527DC3-EBD8-7571-4B12-6A28187AC398}"/>
              </a:ext>
            </a:extLst>
          </p:cNvPr>
          <p:cNvSpPr txBox="1"/>
          <p:nvPr/>
        </p:nvSpPr>
        <p:spPr>
          <a:xfrm>
            <a:off x="9710181" y="2420797"/>
            <a:ext cx="326564" cy="369332"/>
          </a:xfrm>
          <a:prstGeom prst="rect">
            <a:avLst/>
          </a:prstGeom>
          <a:noFill/>
        </p:spPr>
        <p:txBody>
          <a:bodyPr wrap="none" rtlCol="0">
            <a:spAutoFit/>
          </a:bodyPr>
          <a:lstStyle/>
          <a:p>
            <a:r>
              <a:rPr lang="de-DE" dirty="0"/>
              <a:t>F</a:t>
            </a:r>
          </a:p>
        </p:txBody>
      </p:sp>
      <p:sp>
        <p:nvSpPr>
          <p:cNvPr id="19" name="Rechteck 18">
            <a:extLst>
              <a:ext uri="{FF2B5EF4-FFF2-40B4-BE49-F238E27FC236}">
                <a16:creationId xmlns:a16="http://schemas.microsoft.com/office/drawing/2014/main" id="{1C6BA78B-15AE-EA1E-858D-D401B15F4D4A}"/>
              </a:ext>
            </a:extLst>
          </p:cNvPr>
          <p:cNvSpPr/>
          <p:nvPr/>
        </p:nvSpPr>
        <p:spPr>
          <a:xfrm>
            <a:off x="9756722" y="2802223"/>
            <a:ext cx="570128" cy="2017427"/>
          </a:xfrm>
          <a:prstGeom prst="rect">
            <a:avLst/>
          </a:prstGeom>
          <a:solidFill>
            <a:srgbClr val="DAE3F3">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Textfeld 19">
            <a:extLst>
              <a:ext uri="{FF2B5EF4-FFF2-40B4-BE49-F238E27FC236}">
                <a16:creationId xmlns:a16="http://schemas.microsoft.com/office/drawing/2014/main" id="{EAABC148-CB04-94BC-C3D4-5FAE22FA829B}"/>
              </a:ext>
            </a:extLst>
          </p:cNvPr>
          <p:cNvSpPr txBox="1"/>
          <p:nvPr/>
        </p:nvSpPr>
        <p:spPr>
          <a:xfrm>
            <a:off x="9864554" y="3515041"/>
            <a:ext cx="330540" cy="369332"/>
          </a:xfrm>
          <a:prstGeom prst="rect">
            <a:avLst/>
          </a:prstGeom>
          <a:noFill/>
        </p:spPr>
        <p:txBody>
          <a:bodyPr wrap="none" rtlCol="0">
            <a:spAutoFit/>
          </a:bodyPr>
          <a:lstStyle/>
          <a:p>
            <a:r>
              <a:rPr lang="de-DE" dirty="0"/>
              <a:t>G</a:t>
            </a:r>
          </a:p>
        </p:txBody>
      </p:sp>
      <p:sp>
        <p:nvSpPr>
          <p:cNvPr id="21" name="Rechteck 20">
            <a:extLst>
              <a:ext uri="{FF2B5EF4-FFF2-40B4-BE49-F238E27FC236}">
                <a16:creationId xmlns:a16="http://schemas.microsoft.com/office/drawing/2014/main" id="{82CAD528-C33A-DC72-E88E-96270386B20C}"/>
              </a:ext>
            </a:extLst>
          </p:cNvPr>
          <p:cNvSpPr/>
          <p:nvPr/>
        </p:nvSpPr>
        <p:spPr>
          <a:xfrm>
            <a:off x="10358508" y="2477597"/>
            <a:ext cx="634712" cy="2340295"/>
          </a:xfrm>
          <a:prstGeom prst="rect">
            <a:avLst/>
          </a:prstGeom>
          <a:solidFill>
            <a:srgbClr val="DAE3F3">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Textfeld 21">
            <a:extLst>
              <a:ext uri="{FF2B5EF4-FFF2-40B4-BE49-F238E27FC236}">
                <a16:creationId xmlns:a16="http://schemas.microsoft.com/office/drawing/2014/main" id="{FA592BB5-FC8A-3EB7-7099-8E71D6C56388}"/>
              </a:ext>
            </a:extLst>
          </p:cNvPr>
          <p:cNvSpPr txBox="1"/>
          <p:nvPr/>
        </p:nvSpPr>
        <p:spPr>
          <a:xfrm>
            <a:off x="10300935" y="2441313"/>
            <a:ext cx="330540" cy="369332"/>
          </a:xfrm>
          <a:prstGeom prst="rect">
            <a:avLst/>
          </a:prstGeom>
          <a:noFill/>
        </p:spPr>
        <p:txBody>
          <a:bodyPr wrap="none" rtlCol="0">
            <a:spAutoFit/>
          </a:bodyPr>
          <a:lstStyle/>
          <a:p>
            <a:r>
              <a:rPr lang="de-DE" dirty="0"/>
              <a:t>H</a:t>
            </a:r>
          </a:p>
        </p:txBody>
      </p:sp>
      <p:pic>
        <p:nvPicPr>
          <p:cNvPr id="4" name="Grafik 3">
            <a:extLst>
              <a:ext uri="{FF2B5EF4-FFF2-40B4-BE49-F238E27FC236}">
                <a16:creationId xmlns:a16="http://schemas.microsoft.com/office/drawing/2014/main" id="{263019C6-1660-FE19-F489-F9C55CEEEC66}"/>
              </a:ext>
            </a:extLst>
          </p:cNvPr>
          <p:cNvPicPr>
            <a:picLocks noChangeAspect="1"/>
          </p:cNvPicPr>
          <p:nvPr/>
        </p:nvPicPr>
        <p:blipFill>
          <a:blip r:embed="rId3"/>
          <a:stretch>
            <a:fillRect/>
          </a:stretch>
        </p:blipFill>
        <p:spPr>
          <a:xfrm>
            <a:off x="1301062" y="2194112"/>
            <a:ext cx="4817163" cy="209839"/>
          </a:xfrm>
          <a:prstGeom prst="rect">
            <a:avLst/>
          </a:prstGeom>
        </p:spPr>
      </p:pic>
    </p:spTree>
    <p:extLst>
      <p:ext uri="{BB962C8B-B14F-4D97-AF65-F5344CB8AC3E}">
        <p14:creationId xmlns:p14="http://schemas.microsoft.com/office/powerpoint/2010/main" val="596910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03266E-1267-EBB1-28DE-1B1A87C4A4EF}"/>
              </a:ext>
            </a:extLst>
          </p:cNvPr>
          <p:cNvSpPr>
            <a:spLocks noGrp="1"/>
          </p:cNvSpPr>
          <p:nvPr>
            <p:ph type="title"/>
          </p:nvPr>
        </p:nvSpPr>
        <p:spPr/>
        <p:txBody>
          <a:bodyPr/>
          <a:lstStyle/>
          <a:p>
            <a:r>
              <a:rPr lang="de-DE" dirty="0"/>
              <a:t>A: Titelzeile</a:t>
            </a:r>
          </a:p>
        </p:txBody>
      </p:sp>
      <p:sp>
        <p:nvSpPr>
          <p:cNvPr id="9" name="Textfeld 8">
            <a:extLst>
              <a:ext uri="{FF2B5EF4-FFF2-40B4-BE49-F238E27FC236}">
                <a16:creationId xmlns:a16="http://schemas.microsoft.com/office/drawing/2014/main" id="{9154A9DC-2CD9-22A7-EACB-2FB6CD486E19}"/>
              </a:ext>
            </a:extLst>
          </p:cNvPr>
          <p:cNvSpPr txBox="1"/>
          <p:nvPr/>
        </p:nvSpPr>
        <p:spPr>
          <a:xfrm>
            <a:off x="3301805" y="3610487"/>
            <a:ext cx="5588389" cy="369332"/>
          </a:xfrm>
          <a:prstGeom prst="rect">
            <a:avLst/>
          </a:prstGeom>
          <a:noFill/>
        </p:spPr>
        <p:txBody>
          <a:bodyPr wrap="none" rtlCol="0">
            <a:spAutoFit/>
          </a:bodyPr>
          <a:lstStyle/>
          <a:p>
            <a:r>
              <a:rPr lang="de-DE" dirty="0"/>
              <a:t>Kevin ${Version} (${Pfad zum Projektordner}) (${Sprache})</a:t>
            </a:r>
          </a:p>
        </p:txBody>
      </p:sp>
      <p:pic>
        <p:nvPicPr>
          <p:cNvPr id="6" name="Inhaltsplatzhalter 5">
            <a:extLst>
              <a:ext uri="{FF2B5EF4-FFF2-40B4-BE49-F238E27FC236}">
                <a16:creationId xmlns:a16="http://schemas.microsoft.com/office/drawing/2014/main" id="{2B4FB345-165A-9A1F-24A4-A0218AC3CE77}"/>
              </a:ext>
            </a:extLst>
          </p:cNvPr>
          <p:cNvPicPr>
            <a:picLocks noGrp="1" noChangeAspect="1"/>
          </p:cNvPicPr>
          <p:nvPr>
            <p:ph idx="1"/>
          </p:nvPr>
        </p:nvPicPr>
        <p:blipFill>
          <a:blip r:embed="rId2"/>
          <a:stretch>
            <a:fillRect/>
          </a:stretch>
        </p:blipFill>
        <p:spPr>
          <a:xfrm>
            <a:off x="3335243" y="3115691"/>
            <a:ext cx="5029902" cy="219106"/>
          </a:xfrm>
          <a:prstGeom prst="rect">
            <a:avLst/>
          </a:prstGeom>
        </p:spPr>
      </p:pic>
    </p:spTree>
    <p:extLst>
      <p:ext uri="{BB962C8B-B14F-4D97-AF65-F5344CB8AC3E}">
        <p14:creationId xmlns:p14="http://schemas.microsoft.com/office/powerpoint/2010/main" val="1455078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5262DE-6626-1B0A-EF46-D96956F24C6B}"/>
              </a:ext>
            </a:extLst>
          </p:cNvPr>
          <p:cNvSpPr>
            <a:spLocks noGrp="1"/>
          </p:cNvSpPr>
          <p:nvPr>
            <p:ph type="title"/>
          </p:nvPr>
        </p:nvSpPr>
        <p:spPr/>
        <p:txBody>
          <a:bodyPr/>
          <a:lstStyle/>
          <a:p>
            <a:r>
              <a:rPr lang="de-DE" dirty="0"/>
              <a:t>B: Frage stellen oder Fehler melden per E-Mail</a:t>
            </a:r>
          </a:p>
        </p:txBody>
      </p:sp>
      <p:sp>
        <p:nvSpPr>
          <p:cNvPr id="6" name="Textfeld 5">
            <a:extLst>
              <a:ext uri="{FF2B5EF4-FFF2-40B4-BE49-F238E27FC236}">
                <a16:creationId xmlns:a16="http://schemas.microsoft.com/office/drawing/2014/main" id="{88D519A1-6FC0-9798-AA91-1D7DCFB7D3EB}"/>
              </a:ext>
            </a:extLst>
          </p:cNvPr>
          <p:cNvSpPr txBox="1"/>
          <p:nvPr/>
        </p:nvSpPr>
        <p:spPr>
          <a:xfrm>
            <a:off x="1698012" y="3739635"/>
            <a:ext cx="9030934" cy="1200329"/>
          </a:xfrm>
          <a:prstGeom prst="rect">
            <a:avLst/>
          </a:prstGeom>
          <a:noFill/>
        </p:spPr>
        <p:txBody>
          <a:bodyPr wrap="none" rtlCol="0">
            <a:spAutoFit/>
          </a:bodyPr>
          <a:lstStyle/>
          <a:p>
            <a:r>
              <a:rPr lang="de-DE" dirty="0"/>
              <a:t>Mit Klick auf diesen Button öffnet sich ein E-Mail-Client (sofern installiert).</a:t>
            </a:r>
          </a:p>
          <a:p>
            <a:r>
              <a:rPr lang="de-DE" dirty="0"/>
              <a:t>Hiermit ergibt sich die Möglichkeit, bei Fragen oder Problemen eine E-Mail an mich zu senden.</a:t>
            </a:r>
          </a:p>
          <a:p>
            <a:endParaRPr lang="de-DE" dirty="0"/>
          </a:p>
          <a:p>
            <a:r>
              <a:rPr lang="de-DE" dirty="0"/>
              <a:t>Bitte Problem möglichst genau beschreiben und wenn möglich einen Screenshot beifügen.</a:t>
            </a:r>
          </a:p>
        </p:txBody>
      </p:sp>
      <p:pic>
        <p:nvPicPr>
          <p:cNvPr id="12" name="Inhaltsplatzhalter 11">
            <a:extLst>
              <a:ext uri="{FF2B5EF4-FFF2-40B4-BE49-F238E27FC236}">
                <a16:creationId xmlns:a16="http://schemas.microsoft.com/office/drawing/2014/main" id="{358A9125-F190-F030-E326-5747CCF07117}"/>
              </a:ext>
            </a:extLst>
          </p:cNvPr>
          <p:cNvPicPr>
            <a:picLocks noGrp="1" noChangeAspect="1"/>
          </p:cNvPicPr>
          <p:nvPr>
            <p:ph idx="1"/>
          </p:nvPr>
        </p:nvPicPr>
        <p:blipFill>
          <a:blip r:embed="rId2"/>
          <a:stretch>
            <a:fillRect/>
          </a:stretch>
        </p:blipFill>
        <p:spPr>
          <a:xfrm>
            <a:off x="5395912" y="2926277"/>
            <a:ext cx="1400175" cy="409575"/>
          </a:xfrm>
        </p:spPr>
      </p:pic>
    </p:spTree>
    <p:extLst>
      <p:ext uri="{BB962C8B-B14F-4D97-AF65-F5344CB8AC3E}">
        <p14:creationId xmlns:p14="http://schemas.microsoft.com/office/powerpoint/2010/main" val="4174824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2D488F-259B-59C0-2942-93FFC9F9E138}"/>
              </a:ext>
            </a:extLst>
          </p:cNvPr>
          <p:cNvSpPr>
            <a:spLocks noGrp="1"/>
          </p:cNvSpPr>
          <p:nvPr>
            <p:ph type="title"/>
          </p:nvPr>
        </p:nvSpPr>
        <p:spPr/>
        <p:txBody>
          <a:bodyPr/>
          <a:lstStyle/>
          <a:p>
            <a:r>
              <a:rPr lang="de-DE" dirty="0"/>
              <a:t>C: Liste</a:t>
            </a:r>
          </a:p>
        </p:txBody>
      </p:sp>
      <p:pic>
        <p:nvPicPr>
          <p:cNvPr id="5" name="Inhaltsplatzhalter 4">
            <a:extLst>
              <a:ext uri="{FF2B5EF4-FFF2-40B4-BE49-F238E27FC236}">
                <a16:creationId xmlns:a16="http://schemas.microsoft.com/office/drawing/2014/main" id="{96B19EB3-2FD4-0A8D-15CA-66B134BD81BA}"/>
              </a:ext>
            </a:extLst>
          </p:cNvPr>
          <p:cNvPicPr>
            <a:picLocks noGrp="1" noChangeAspect="1"/>
          </p:cNvPicPr>
          <p:nvPr>
            <p:ph idx="1"/>
          </p:nvPr>
        </p:nvPicPr>
        <p:blipFill>
          <a:blip r:embed="rId2"/>
          <a:stretch>
            <a:fillRect/>
          </a:stretch>
        </p:blipFill>
        <p:spPr>
          <a:xfrm>
            <a:off x="1690687" y="2463006"/>
            <a:ext cx="1419225" cy="2581275"/>
          </a:xfrm>
        </p:spPr>
      </p:pic>
      <p:sp>
        <p:nvSpPr>
          <p:cNvPr id="6" name="Textfeld 5">
            <a:extLst>
              <a:ext uri="{FF2B5EF4-FFF2-40B4-BE49-F238E27FC236}">
                <a16:creationId xmlns:a16="http://schemas.microsoft.com/office/drawing/2014/main" id="{D47BB076-729A-7072-6C5F-F3D2E4C15995}"/>
              </a:ext>
            </a:extLst>
          </p:cNvPr>
          <p:cNvSpPr txBox="1"/>
          <p:nvPr/>
        </p:nvSpPr>
        <p:spPr>
          <a:xfrm>
            <a:off x="4560325" y="2929731"/>
            <a:ext cx="5155176" cy="1754326"/>
          </a:xfrm>
          <a:prstGeom prst="rect">
            <a:avLst/>
          </a:prstGeom>
          <a:noFill/>
        </p:spPr>
        <p:txBody>
          <a:bodyPr wrap="square" rtlCol="0">
            <a:spAutoFit/>
          </a:bodyPr>
          <a:lstStyle/>
          <a:p>
            <a:r>
              <a:rPr lang="de-DE" dirty="0"/>
              <a:t>Für all diese Einträge kann jeweils die Bewertung vorgenommen werden. Dies können z.B. Namen von Personen sein, welche gleichzeitig mithilfe des Tools bewertet werden. Diese Liste wird aus der Datei „rows.xlsx“ generiert. Die Einträge können nicht verändert werden.</a:t>
            </a:r>
          </a:p>
        </p:txBody>
      </p:sp>
    </p:spTree>
    <p:extLst>
      <p:ext uri="{BB962C8B-B14F-4D97-AF65-F5344CB8AC3E}">
        <p14:creationId xmlns:p14="http://schemas.microsoft.com/office/powerpoint/2010/main" val="3548838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040962-9999-ED14-F6F1-C287983478B2}"/>
              </a:ext>
            </a:extLst>
          </p:cNvPr>
          <p:cNvSpPr>
            <a:spLocks noGrp="1"/>
          </p:cNvSpPr>
          <p:nvPr>
            <p:ph type="title"/>
          </p:nvPr>
        </p:nvSpPr>
        <p:spPr/>
        <p:txBody>
          <a:bodyPr/>
          <a:lstStyle/>
          <a:p>
            <a:r>
              <a:rPr lang="de-DE" dirty="0"/>
              <a:t>D: Bewertungskriterien</a:t>
            </a:r>
          </a:p>
        </p:txBody>
      </p:sp>
      <p:pic>
        <p:nvPicPr>
          <p:cNvPr id="5" name="Inhaltsplatzhalter 4">
            <a:extLst>
              <a:ext uri="{FF2B5EF4-FFF2-40B4-BE49-F238E27FC236}">
                <a16:creationId xmlns:a16="http://schemas.microsoft.com/office/drawing/2014/main" id="{C13913DF-D1D5-F2CD-4A7B-C8BA4ABB036C}"/>
              </a:ext>
            </a:extLst>
          </p:cNvPr>
          <p:cNvPicPr>
            <a:picLocks noGrp="1" noChangeAspect="1"/>
          </p:cNvPicPr>
          <p:nvPr>
            <p:ph idx="1"/>
          </p:nvPr>
        </p:nvPicPr>
        <p:blipFill>
          <a:blip r:embed="rId2"/>
          <a:stretch>
            <a:fillRect/>
          </a:stretch>
        </p:blipFill>
        <p:spPr>
          <a:xfrm>
            <a:off x="1509712" y="2015331"/>
            <a:ext cx="9172575" cy="447675"/>
          </a:xfrm>
        </p:spPr>
      </p:pic>
      <p:sp>
        <p:nvSpPr>
          <p:cNvPr id="6" name="Textfeld 5">
            <a:extLst>
              <a:ext uri="{FF2B5EF4-FFF2-40B4-BE49-F238E27FC236}">
                <a16:creationId xmlns:a16="http://schemas.microsoft.com/office/drawing/2014/main" id="{5D6327D9-A4AE-5CAB-BF6D-F99A33639F9E}"/>
              </a:ext>
            </a:extLst>
          </p:cNvPr>
          <p:cNvSpPr txBox="1"/>
          <p:nvPr/>
        </p:nvSpPr>
        <p:spPr>
          <a:xfrm>
            <a:off x="4474600" y="3082131"/>
            <a:ext cx="4278875" cy="923330"/>
          </a:xfrm>
          <a:prstGeom prst="rect">
            <a:avLst/>
          </a:prstGeom>
          <a:noFill/>
        </p:spPr>
        <p:txBody>
          <a:bodyPr wrap="square" rtlCol="0">
            <a:spAutoFit/>
          </a:bodyPr>
          <a:lstStyle/>
          <a:p>
            <a:r>
              <a:rPr lang="de-DE" dirty="0"/>
              <a:t>Diese Kriterien werden aus der Datei „db.xlsx“ übertragen und können nicht geändert werden.</a:t>
            </a:r>
          </a:p>
        </p:txBody>
      </p:sp>
    </p:spTree>
    <p:extLst>
      <p:ext uri="{BB962C8B-B14F-4D97-AF65-F5344CB8AC3E}">
        <p14:creationId xmlns:p14="http://schemas.microsoft.com/office/powerpoint/2010/main" val="1234603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B324D6-EB53-BBBA-1C0A-48EE3997D8A3}"/>
              </a:ext>
            </a:extLst>
          </p:cNvPr>
          <p:cNvSpPr>
            <a:spLocks noGrp="1"/>
          </p:cNvSpPr>
          <p:nvPr>
            <p:ph type="title"/>
          </p:nvPr>
        </p:nvSpPr>
        <p:spPr/>
        <p:txBody>
          <a:bodyPr/>
          <a:lstStyle/>
          <a:p>
            <a:r>
              <a:rPr lang="de-DE" dirty="0"/>
              <a:t>E: Dropdown-Menüs</a:t>
            </a:r>
          </a:p>
        </p:txBody>
      </p:sp>
      <p:pic>
        <p:nvPicPr>
          <p:cNvPr id="5" name="Inhaltsplatzhalter 4">
            <a:extLst>
              <a:ext uri="{FF2B5EF4-FFF2-40B4-BE49-F238E27FC236}">
                <a16:creationId xmlns:a16="http://schemas.microsoft.com/office/drawing/2014/main" id="{BD74BE22-FDE8-3665-2B48-EE7F43E24CA4}"/>
              </a:ext>
            </a:extLst>
          </p:cNvPr>
          <p:cNvPicPr>
            <a:picLocks noGrp="1" noChangeAspect="1"/>
          </p:cNvPicPr>
          <p:nvPr>
            <p:ph idx="1"/>
          </p:nvPr>
        </p:nvPicPr>
        <p:blipFill>
          <a:blip r:embed="rId2"/>
          <a:stretch>
            <a:fillRect/>
          </a:stretch>
        </p:blipFill>
        <p:spPr>
          <a:xfrm>
            <a:off x="1390650" y="1815306"/>
            <a:ext cx="9182100" cy="2562225"/>
          </a:xfrm>
        </p:spPr>
      </p:pic>
      <p:sp>
        <p:nvSpPr>
          <p:cNvPr id="6" name="Textfeld 5">
            <a:extLst>
              <a:ext uri="{FF2B5EF4-FFF2-40B4-BE49-F238E27FC236}">
                <a16:creationId xmlns:a16="http://schemas.microsoft.com/office/drawing/2014/main" id="{5CE2033D-6FE6-6EA1-3B49-3A869F16CF6D}"/>
              </a:ext>
            </a:extLst>
          </p:cNvPr>
          <p:cNvSpPr txBox="1"/>
          <p:nvPr/>
        </p:nvSpPr>
        <p:spPr>
          <a:xfrm>
            <a:off x="1817125" y="4692649"/>
            <a:ext cx="4278875" cy="1477328"/>
          </a:xfrm>
          <a:prstGeom prst="rect">
            <a:avLst/>
          </a:prstGeom>
          <a:noFill/>
        </p:spPr>
        <p:txBody>
          <a:bodyPr wrap="square" rtlCol="0">
            <a:spAutoFit/>
          </a:bodyPr>
          <a:lstStyle/>
          <a:p>
            <a:r>
              <a:rPr lang="de-DE" dirty="0"/>
              <a:t>Zu jedem Namen wird ein Dropdown-Menü erstellt. Hier werden nur Bewertungsstufen dargestellt, keine Texte. Diese Bewertungsstufen entsprechen den Einträgen in der Datei „db.xlsx“.</a:t>
            </a:r>
          </a:p>
        </p:txBody>
      </p:sp>
      <p:pic>
        <p:nvPicPr>
          <p:cNvPr id="3" name="Grafik 2" descr="Warnung Silhouette">
            <a:extLst>
              <a:ext uri="{FF2B5EF4-FFF2-40B4-BE49-F238E27FC236}">
                <a16:creationId xmlns:a16="http://schemas.microsoft.com/office/drawing/2014/main" id="{777807D0-5DBA-9734-3B33-A9CFEA11E5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9437" y="4783612"/>
            <a:ext cx="609600" cy="609600"/>
          </a:xfrm>
          <a:prstGeom prst="rect">
            <a:avLst/>
          </a:prstGeom>
        </p:spPr>
      </p:pic>
      <p:sp>
        <p:nvSpPr>
          <p:cNvPr id="4" name="Textfeld 3">
            <a:extLst>
              <a:ext uri="{FF2B5EF4-FFF2-40B4-BE49-F238E27FC236}">
                <a16:creationId xmlns:a16="http://schemas.microsoft.com/office/drawing/2014/main" id="{62202204-4857-ABC8-F5A7-B111D6C221CD}"/>
              </a:ext>
            </a:extLst>
          </p:cNvPr>
          <p:cNvSpPr txBox="1"/>
          <p:nvPr/>
        </p:nvSpPr>
        <p:spPr>
          <a:xfrm>
            <a:off x="8340725" y="5562779"/>
            <a:ext cx="3114675" cy="646331"/>
          </a:xfrm>
          <a:prstGeom prst="rect">
            <a:avLst/>
          </a:prstGeom>
          <a:noFill/>
        </p:spPr>
        <p:txBody>
          <a:bodyPr wrap="square" rtlCol="0">
            <a:spAutoFit/>
          </a:bodyPr>
          <a:lstStyle/>
          <a:p>
            <a:r>
              <a:rPr lang="de-DE" dirty="0"/>
              <a:t>Die Reihenfolge der Bewertung ist vollkommen egal.</a:t>
            </a:r>
          </a:p>
        </p:txBody>
      </p:sp>
    </p:spTree>
    <p:extLst>
      <p:ext uri="{BB962C8B-B14F-4D97-AF65-F5344CB8AC3E}">
        <p14:creationId xmlns:p14="http://schemas.microsoft.com/office/powerpoint/2010/main" val="828671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E6DDD2-28C8-C64B-5544-0D24661045A1}"/>
              </a:ext>
            </a:extLst>
          </p:cNvPr>
          <p:cNvSpPr>
            <a:spLocks noGrp="1"/>
          </p:cNvSpPr>
          <p:nvPr>
            <p:ph type="title"/>
          </p:nvPr>
        </p:nvSpPr>
        <p:spPr/>
        <p:txBody>
          <a:bodyPr/>
          <a:lstStyle/>
          <a:p>
            <a:r>
              <a:rPr lang="de-DE" dirty="0"/>
              <a:t>F: Sitzung speichern-Button</a:t>
            </a:r>
          </a:p>
        </p:txBody>
      </p:sp>
      <p:pic>
        <p:nvPicPr>
          <p:cNvPr id="5" name="Inhaltsplatzhalter 4">
            <a:extLst>
              <a:ext uri="{FF2B5EF4-FFF2-40B4-BE49-F238E27FC236}">
                <a16:creationId xmlns:a16="http://schemas.microsoft.com/office/drawing/2014/main" id="{70A933AF-1C8C-38BF-05E7-4A5DEC910BC6}"/>
              </a:ext>
            </a:extLst>
          </p:cNvPr>
          <p:cNvPicPr>
            <a:picLocks noGrp="1" noChangeAspect="1"/>
          </p:cNvPicPr>
          <p:nvPr>
            <p:ph idx="1"/>
          </p:nvPr>
        </p:nvPicPr>
        <p:blipFill>
          <a:blip r:embed="rId2"/>
          <a:stretch>
            <a:fillRect/>
          </a:stretch>
        </p:blipFill>
        <p:spPr>
          <a:xfrm>
            <a:off x="3267075" y="1848644"/>
            <a:ext cx="800100" cy="438150"/>
          </a:xfrm>
        </p:spPr>
      </p:pic>
      <p:sp>
        <p:nvSpPr>
          <p:cNvPr id="6" name="Textfeld 5">
            <a:extLst>
              <a:ext uri="{FF2B5EF4-FFF2-40B4-BE49-F238E27FC236}">
                <a16:creationId xmlns:a16="http://schemas.microsoft.com/office/drawing/2014/main" id="{BA688393-C904-9C00-E872-5616BB3BEB96}"/>
              </a:ext>
            </a:extLst>
          </p:cNvPr>
          <p:cNvSpPr txBox="1"/>
          <p:nvPr/>
        </p:nvSpPr>
        <p:spPr>
          <a:xfrm>
            <a:off x="1457326" y="2586048"/>
            <a:ext cx="5025512" cy="3970318"/>
          </a:xfrm>
          <a:prstGeom prst="rect">
            <a:avLst/>
          </a:prstGeom>
          <a:noFill/>
        </p:spPr>
        <p:txBody>
          <a:bodyPr wrap="square" rtlCol="0">
            <a:spAutoFit/>
          </a:bodyPr>
          <a:lstStyle/>
          <a:p>
            <a:r>
              <a:rPr lang="de-DE" dirty="0"/>
              <a:t>Mit diesem Button wird der aktuelle Stand der Bewertung gespeichert. Es wird eine Datei herausgeschrieben, die unter „${Projektordner}/</a:t>
            </a:r>
            <a:r>
              <a:rPr lang="de-DE" dirty="0" err="1"/>
              <a:t>sessions</a:t>
            </a:r>
            <a:r>
              <a:rPr lang="de-DE" dirty="0"/>
              <a:t>/“ zu finden ist. </a:t>
            </a:r>
          </a:p>
          <a:p>
            <a:endParaRPr lang="de-DE" dirty="0"/>
          </a:p>
          <a:p>
            <a:r>
              <a:rPr lang="de-DE" dirty="0"/>
              <a:t>Darin enthalten ist Ihr kompletter aktueller Bewertungsstand. </a:t>
            </a:r>
          </a:p>
          <a:p>
            <a:endParaRPr lang="de-DE" dirty="0"/>
          </a:p>
          <a:p>
            <a:r>
              <a:rPr lang="de-DE" dirty="0"/>
              <a:t>Die Datei hat die Endung „.</a:t>
            </a:r>
            <a:r>
              <a:rPr lang="de-DE" dirty="0" err="1"/>
              <a:t>session</a:t>
            </a:r>
            <a:r>
              <a:rPr lang="de-DE" dirty="0"/>
              <a:t>“ und ist komprimiert. Somit ist sie nicht menschenlesbar. </a:t>
            </a:r>
          </a:p>
          <a:p>
            <a:endParaRPr lang="de-DE" dirty="0"/>
          </a:p>
          <a:p>
            <a:r>
              <a:rPr lang="de-DE" dirty="0"/>
              <a:t>Ist beim Speichern der Session die Bewertung komplett abgeschlossen, wird zusätzlich eine „.final“-Datei geschrieben. </a:t>
            </a:r>
          </a:p>
        </p:txBody>
      </p:sp>
      <p:pic>
        <p:nvPicPr>
          <p:cNvPr id="7" name="Grafik 6" descr="Warnung Silhouette">
            <a:extLst>
              <a:ext uri="{FF2B5EF4-FFF2-40B4-BE49-F238E27FC236}">
                <a16:creationId xmlns:a16="http://schemas.microsoft.com/office/drawing/2014/main" id="{14816BB0-8E74-6874-5F94-3D6FB29CAF5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74285" y="2067719"/>
            <a:ext cx="609600" cy="609600"/>
          </a:xfrm>
          <a:prstGeom prst="rect">
            <a:avLst/>
          </a:prstGeom>
        </p:spPr>
      </p:pic>
      <p:sp>
        <p:nvSpPr>
          <p:cNvPr id="8" name="Textfeld 7">
            <a:extLst>
              <a:ext uri="{FF2B5EF4-FFF2-40B4-BE49-F238E27FC236}">
                <a16:creationId xmlns:a16="http://schemas.microsoft.com/office/drawing/2014/main" id="{59B40101-5FFE-069F-CFB9-8AFF8CD8A0E3}"/>
              </a:ext>
            </a:extLst>
          </p:cNvPr>
          <p:cNvSpPr txBox="1"/>
          <p:nvPr/>
        </p:nvSpPr>
        <p:spPr>
          <a:xfrm>
            <a:off x="8410575" y="2677319"/>
            <a:ext cx="2867025" cy="1200329"/>
          </a:xfrm>
          <a:prstGeom prst="rect">
            <a:avLst/>
          </a:prstGeom>
          <a:noFill/>
        </p:spPr>
        <p:txBody>
          <a:bodyPr wrap="square" rtlCol="0">
            <a:spAutoFit/>
          </a:bodyPr>
          <a:lstStyle/>
          <a:p>
            <a:r>
              <a:rPr lang="de-DE" dirty="0"/>
              <a:t>Ändern Sie </a:t>
            </a:r>
            <a:r>
              <a:rPr lang="de-DE" dirty="0">
                <a:solidFill>
                  <a:srgbClr val="FF0000"/>
                </a:solidFill>
              </a:rPr>
              <a:t>unter keinen Umständen </a:t>
            </a:r>
            <a:r>
              <a:rPr lang="de-DE" dirty="0"/>
              <a:t>die „.</a:t>
            </a:r>
            <a:r>
              <a:rPr lang="de-DE" dirty="0" err="1"/>
              <a:t>session</a:t>
            </a:r>
            <a:r>
              <a:rPr lang="de-DE" dirty="0"/>
              <a:t>“-Dateien von Hand, da sie dadurch zerstört wird.</a:t>
            </a:r>
          </a:p>
        </p:txBody>
      </p:sp>
      <p:pic>
        <p:nvPicPr>
          <p:cNvPr id="9" name="Grafik 8" descr="Warnung Silhouette">
            <a:extLst>
              <a:ext uri="{FF2B5EF4-FFF2-40B4-BE49-F238E27FC236}">
                <a16:creationId xmlns:a16="http://schemas.microsoft.com/office/drawing/2014/main" id="{9F58F527-4957-D761-5248-A3BADE931D4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74285" y="4254679"/>
            <a:ext cx="609600" cy="609600"/>
          </a:xfrm>
          <a:prstGeom prst="rect">
            <a:avLst/>
          </a:prstGeom>
        </p:spPr>
      </p:pic>
      <p:sp>
        <p:nvSpPr>
          <p:cNvPr id="10" name="Textfeld 9">
            <a:extLst>
              <a:ext uri="{FF2B5EF4-FFF2-40B4-BE49-F238E27FC236}">
                <a16:creationId xmlns:a16="http://schemas.microsoft.com/office/drawing/2014/main" id="{7C9C3BC7-8A4A-0891-63FA-F46C6AE88EAB}"/>
              </a:ext>
            </a:extLst>
          </p:cNvPr>
          <p:cNvSpPr txBox="1"/>
          <p:nvPr/>
        </p:nvSpPr>
        <p:spPr>
          <a:xfrm>
            <a:off x="8410575" y="4864279"/>
            <a:ext cx="2867025" cy="1477328"/>
          </a:xfrm>
          <a:prstGeom prst="rect">
            <a:avLst/>
          </a:prstGeom>
          <a:noFill/>
        </p:spPr>
        <p:txBody>
          <a:bodyPr wrap="square" rtlCol="0">
            <a:spAutoFit/>
          </a:bodyPr>
          <a:lstStyle/>
          <a:p>
            <a:r>
              <a:rPr lang="de-DE" dirty="0"/>
              <a:t>Sie können eine „.</a:t>
            </a:r>
            <a:r>
              <a:rPr lang="de-DE" dirty="0" err="1"/>
              <a:t>session</a:t>
            </a:r>
            <a:r>
              <a:rPr lang="de-DE" dirty="0"/>
              <a:t>“-Datei wie eine „.</a:t>
            </a:r>
            <a:r>
              <a:rPr lang="de-DE" dirty="0" err="1"/>
              <a:t>config</a:t>
            </a:r>
            <a:r>
              <a:rPr lang="de-DE" dirty="0"/>
              <a:t>“-Datei beim Programmstart laden. Siehe </a:t>
            </a:r>
            <a:r>
              <a:rPr lang="de-DE" dirty="0">
                <a:hlinkClick r:id="rId4" action="ppaction://hlinksldjump"/>
              </a:rPr>
              <a:t>Konfigurationsdatei laden</a:t>
            </a:r>
            <a:endParaRPr lang="de-DE" dirty="0"/>
          </a:p>
        </p:txBody>
      </p:sp>
    </p:spTree>
    <p:extLst>
      <p:ext uri="{BB962C8B-B14F-4D97-AF65-F5344CB8AC3E}">
        <p14:creationId xmlns:p14="http://schemas.microsoft.com/office/powerpoint/2010/main" val="3546740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E1F19C-87C5-DAAF-3981-C879F6F80C5E}"/>
              </a:ext>
            </a:extLst>
          </p:cNvPr>
          <p:cNvSpPr>
            <a:spLocks noGrp="1"/>
          </p:cNvSpPr>
          <p:nvPr>
            <p:ph type="title"/>
          </p:nvPr>
        </p:nvSpPr>
        <p:spPr/>
        <p:txBody>
          <a:bodyPr/>
          <a:lstStyle/>
          <a:p>
            <a:r>
              <a:rPr lang="de-DE" dirty="0"/>
              <a:t>G: Text prüfen</a:t>
            </a:r>
          </a:p>
        </p:txBody>
      </p:sp>
      <p:pic>
        <p:nvPicPr>
          <p:cNvPr id="5" name="Inhaltsplatzhalter 4">
            <a:extLst>
              <a:ext uri="{FF2B5EF4-FFF2-40B4-BE49-F238E27FC236}">
                <a16:creationId xmlns:a16="http://schemas.microsoft.com/office/drawing/2014/main" id="{C8168021-58EE-B279-D775-584B96A2A8BE}"/>
              </a:ext>
            </a:extLst>
          </p:cNvPr>
          <p:cNvPicPr>
            <a:picLocks noGrp="1" noChangeAspect="1"/>
          </p:cNvPicPr>
          <p:nvPr>
            <p:ph idx="1"/>
          </p:nvPr>
        </p:nvPicPr>
        <p:blipFill>
          <a:blip r:embed="rId2"/>
          <a:stretch>
            <a:fillRect/>
          </a:stretch>
        </p:blipFill>
        <p:spPr>
          <a:xfrm>
            <a:off x="1519237" y="2367756"/>
            <a:ext cx="752475" cy="2543175"/>
          </a:xfrm>
        </p:spPr>
      </p:pic>
      <p:sp>
        <p:nvSpPr>
          <p:cNvPr id="6" name="Textfeld 5">
            <a:extLst>
              <a:ext uri="{FF2B5EF4-FFF2-40B4-BE49-F238E27FC236}">
                <a16:creationId xmlns:a16="http://schemas.microsoft.com/office/drawing/2014/main" id="{C7F51FD4-6F2F-8F78-34CD-8ADFBE261C86}"/>
              </a:ext>
            </a:extLst>
          </p:cNvPr>
          <p:cNvSpPr txBox="1"/>
          <p:nvPr/>
        </p:nvSpPr>
        <p:spPr>
          <a:xfrm>
            <a:off x="3352801" y="3105834"/>
            <a:ext cx="5025512" cy="923330"/>
          </a:xfrm>
          <a:prstGeom prst="rect">
            <a:avLst/>
          </a:prstGeom>
          <a:noFill/>
        </p:spPr>
        <p:txBody>
          <a:bodyPr wrap="square" rtlCol="0">
            <a:spAutoFit/>
          </a:bodyPr>
          <a:lstStyle/>
          <a:p>
            <a:r>
              <a:rPr lang="de-DE" dirty="0"/>
              <a:t>Mit diesem Button starten Sie die Überprüfung der zu generierenden Texte. Mehr dazu hier: </a:t>
            </a:r>
            <a:r>
              <a:rPr lang="de-DE" dirty="0">
                <a:hlinkClick r:id="rId3" action="ppaction://hlinksldjump"/>
              </a:rPr>
              <a:t>Der „Prüfen“-Dialog (1)</a:t>
            </a:r>
            <a:endParaRPr lang="de-DE" dirty="0"/>
          </a:p>
        </p:txBody>
      </p:sp>
    </p:spTree>
    <p:extLst>
      <p:ext uri="{BB962C8B-B14F-4D97-AF65-F5344CB8AC3E}">
        <p14:creationId xmlns:p14="http://schemas.microsoft.com/office/powerpoint/2010/main" val="3075188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4AC51D-86B5-D8B1-E36C-2E4539493B39}"/>
              </a:ext>
            </a:extLst>
          </p:cNvPr>
          <p:cNvSpPr>
            <a:spLocks noGrp="1"/>
          </p:cNvSpPr>
          <p:nvPr>
            <p:ph type="title"/>
          </p:nvPr>
        </p:nvSpPr>
        <p:spPr/>
        <p:txBody>
          <a:bodyPr/>
          <a:lstStyle/>
          <a:p>
            <a:r>
              <a:rPr lang="de-DE" dirty="0"/>
              <a:t>H: Statusleiste</a:t>
            </a:r>
          </a:p>
        </p:txBody>
      </p:sp>
      <p:pic>
        <p:nvPicPr>
          <p:cNvPr id="5" name="Inhaltsplatzhalter 4">
            <a:extLst>
              <a:ext uri="{FF2B5EF4-FFF2-40B4-BE49-F238E27FC236}">
                <a16:creationId xmlns:a16="http://schemas.microsoft.com/office/drawing/2014/main" id="{7EB63F66-DAF3-0F31-A538-46BA2F5D5B1C}"/>
              </a:ext>
            </a:extLst>
          </p:cNvPr>
          <p:cNvPicPr>
            <a:picLocks noGrp="1" noChangeAspect="1"/>
          </p:cNvPicPr>
          <p:nvPr>
            <p:ph idx="1"/>
          </p:nvPr>
        </p:nvPicPr>
        <p:blipFill>
          <a:blip r:embed="rId2"/>
          <a:stretch>
            <a:fillRect/>
          </a:stretch>
        </p:blipFill>
        <p:spPr>
          <a:xfrm>
            <a:off x="1243012" y="2272506"/>
            <a:ext cx="790575" cy="2924175"/>
          </a:xfrm>
        </p:spPr>
      </p:pic>
      <p:sp>
        <p:nvSpPr>
          <p:cNvPr id="6" name="Textfeld 5">
            <a:extLst>
              <a:ext uri="{FF2B5EF4-FFF2-40B4-BE49-F238E27FC236}">
                <a16:creationId xmlns:a16="http://schemas.microsoft.com/office/drawing/2014/main" id="{6786CC38-EB25-0234-C315-6996FA2A180C}"/>
              </a:ext>
            </a:extLst>
          </p:cNvPr>
          <p:cNvSpPr txBox="1"/>
          <p:nvPr/>
        </p:nvSpPr>
        <p:spPr>
          <a:xfrm>
            <a:off x="2625726" y="2303432"/>
            <a:ext cx="4362449" cy="2862322"/>
          </a:xfrm>
          <a:prstGeom prst="rect">
            <a:avLst/>
          </a:prstGeom>
          <a:noFill/>
        </p:spPr>
        <p:txBody>
          <a:bodyPr wrap="square" rtlCol="0">
            <a:spAutoFit/>
          </a:bodyPr>
          <a:lstStyle/>
          <a:p>
            <a:r>
              <a:rPr lang="de-DE" dirty="0"/>
              <a:t>Diese Anzeige zeigt Ihnen den Bewertungsstatus in jeder Zeile auf.</a:t>
            </a:r>
          </a:p>
          <a:p>
            <a:endParaRPr lang="de-DE" dirty="0"/>
          </a:p>
          <a:p>
            <a:pPr marL="285750" indent="-285750">
              <a:buFontTx/>
              <a:buChar char="-"/>
            </a:pPr>
            <a:r>
              <a:rPr lang="de-DE" dirty="0"/>
              <a:t>Rot: Text wurde noch nicht geprüft</a:t>
            </a:r>
          </a:p>
          <a:p>
            <a:pPr marL="285750" indent="-285750">
              <a:buFontTx/>
              <a:buChar char="-"/>
            </a:pPr>
            <a:r>
              <a:rPr lang="de-DE" dirty="0"/>
              <a:t>Gelb: Textprüfung wurde angefangen, aber noch nicht abgeschlossen</a:t>
            </a:r>
          </a:p>
          <a:p>
            <a:pPr marL="285750" indent="-285750">
              <a:buFontTx/>
              <a:buChar char="-"/>
            </a:pPr>
            <a:r>
              <a:rPr lang="de-DE" dirty="0"/>
              <a:t>Grün: Textprüfung wurde abgeschlossen</a:t>
            </a:r>
          </a:p>
          <a:p>
            <a:pPr marL="285750" indent="-285750">
              <a:buFontTx/>
              <a:buChar char="-"/>
            </a:pPr>
            <a:endParaRPr lang="de-DE" dirty="0"/>
          </a:p>
          <a:p>
            <a:r>
              <a:rPr lang="de-DE" dirty="0"/>
              <a:t>Mehr zu diesem Mechanismus siehe </a:t>
            </a:r>
            <a:r>
              <a:rPr lang="de-DE" dirty="0">
                <a:hlinkClick r:id="rId3" action="ppaction://hlinksldjump"/>
              </a:rPr>
              <a:t>Der „Prüfen“-Dialog (2) – Das Status-Feld</a:t>
            </a:r>
            <a:endParaRPr lang="de-DE" dirty="0"/>
          </a:p>
        </p:txBody>
      </p:sp>
    </p:spTree>
    <p:extLst>
      <p:ext uri="{BB962C8B-B14F-4D97-AF65-F5344CB8AC3E}">
        <p14:creationId xmlns:p14="http://schemas.microsoft.com/office/powerpoint/2010/main" val="3390084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96CFDB-F5A6-078C-933C-42EEC2F4CFC4}"/>
              </a:ext>
            </a:extLst>
          </p:cNvPr>
          <p:cNvSpPr>
            <a:spLocks noGrp="1"/>
          </p:cNvSpPr>
          <p:nvPr>
            <p:ph type="title"/>
          </p:nvPr>
        </p:nvSpPr>
        <p:spPr/>
        <p:txBody>
          <a:bodyPr/>
          <a:lstStyle/>
          <a:p>
            <a:r>
              <a:rPr lang="de-DE" dirty="0"/>
              <a:t>Bewertungen auswählen (1)</a:t>
            </a:r>
          </a:p>
        </p:txBody>
      </p:sp>
      <p:pic>
        <p:nvPicPr>
          <p:cNvPr id="5" name="Inhaltsplatzhalter 4">
            <a:extLst>
              <a:ext uri="{FF2B5EF4-FFF2-40B4-BE49-F238E27FC236}">
                <a16:creationId xmlns:a16="http://schemas.microsoft.com/office/drawing/2014/main" id="{9B9C0332-4AF5-7F2D-B327-77A67A7DD40F}"/>
              </a:ext>
            </a:extLst>
          </p:cNvPr>
          <p:cNvPicPr>
            <a:picLocks noGrp="1" noChangeAspect="1"/>
          </p:cNvPicPr>
          <p:nvPr>
            <p:ph idx="1"/>
          </p:nvPr>
        </p:nvPicPr>
        <p:blipFill>
          <a:blip r:embed="rId2"/>
          <a:stretch>
            <a:fillRect/>
          </a:stretch>
        </p:blipFill>
        <p:spPr>
          <a:xfrm>
            <a:off x="838200" y="2027238"/>
            <a:ext cx="10515600" cy="1810843"/>
          </a:xfrm>
        </p:spPr>
      </p:pic>
      <p:sp>
        <p:nvSpPr>
          <p:cNvPr id="6" name="Textfeld 5">
            <a:extLst>
              <a:ext uri="{FF2B5EF4-FFF2-40B4-BE49-F238E27FC236}">
                <a16:creationId xmlns:a16="http://schemas.microsoft.com/office/drawing/2014/main" id="{A99F91F8-ECC1-2FA3-BC9D-6DE28E791400}"/>
              </a:ext>
            </a:extLst>
          </p:cNvPr>
          <p:cNvSpPr txBox="1"/>
          <p:nvPr/>
        </p:nvSpPr>
        <p:spPr>
          <a:xfrm>
            <a:off x="4325978" y="4236134"/>
            <a:ext cx="3892549" cy="923330"/>
          </a:xfrm>
          <a:prstGeom prst="rect">
            <a:avLst/>
          </a:prstGeom>
          <a:noFill/>
        </p:spPr>
        <p:txBody>
          <a:bodyPr wrap="square" rtlCol="0">
            <a:spAutoFit/>
          </a:bodyPr>
          <a:lstStyle/>
          <a:p>
            <a:r>
              <a:rPr lang="de-DE" dirty="0"/>
              <a:t>Wählen Sie Bewertungsstufen mithilfe der Dropdown-Menüs aus. Die Stufen entsprechen jenen in „db.xlsx“.</a:t>
            </a:r>
          </a:p>
        </p:txBody>
      </p:sp>
      <p:cxnSp>
        <p:nvCxnSpPr>
          <p:cNvPr id="7" name="Gerade Verbindung mit Pfeil 6">
            <a:extLst>
              <a:ext uri="{FF2B5EF4-FFF2-40B4-BE49-F238E27FC236}">
                <a16:creationId xmlns:a16="http://schemas.microsoft.com/office/drawing/2014/main" id="{4ECE64EA-B9AA-6BB5-30B8-442B1B5FA592}"/>
              </a:ext>
            </a:extLst>
          </p:cNvPr>
          <p:cNvCxnSpPr>
            <a:cxnSpLocks/>
          </p:cNvCxnSpPr>
          <p:nvPr/>
        </p:nvCxnSpPr>
        <p:spPr>
          <a:xfrm flipH="1" flipV="1">
            <a:off x="6272253" y="3276600"/>
            <a:ext cx="179347" cy="2603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 name="Inhaltsplatzhalter 11">
            <a:extLst>
              <a:ext uri="{FF2B5EF4-FFF2-40B4-BE49-F238E27FC236}">
                <a16:creationId xmlns:a16="http://schemas.microsoft.com/office/drawing/2014/main" id="{F9296A82-5D3E-565D-E35F-3F6A701DC486}"/>
              </a:ext>
            </a:extLst>
          </p:cNvPr>
          <p:cNvPicPr>
            <a:picLocks noChangeAspect="1"/>
          </p:cNvPicPr>
          <p:nvPr/>
        </p:nvPicPr>
        <p:blipFill>
          <a:blip r:embed="rId3"/>
          <a:stretch>
            <a:fillRect/>
          </a:stretch>
        </p:blipFill>
        <p:spPr>
          <a:xfrm>
            <a:off x="1084263" y="2411927"/>
            <a:ext cx="1144588" cy="334811"/>
          </a:xfrm>
          <a:prstGeom prst="rect">
            <a:avLst/>
          </a:prstGeom>
        </p:spPr>
      </p:pic>
      <p:pic>
        <p:nvPicPr>
          <p:cNvPr id="8" name="Grafik 7">
            <a:extLst>
              <a:ext uri="{FF2B5EF4-FFF2-40B4-BE49-F238E27FC236}">
                <a16:creationId xmlns:a16="http://schemas.microsoft.com/office/drawing/2014/main" id="{AD0FA4A0-B250-EC9F-9984-E3C037914DEE}"/>
              </a:ext>
            </a:extLst>
          </p:cNvPr>
          <p:cNvPicPr>
            <a:picLocks noChangeAspect="1"/>
          </p:cNvPicPr>
          <p:nvPr/>
        </p:nvPicPr>
        <p:blipFill>
          <a:blip r:embed="rId4"/>
          <a:stretch>
            <a:fillRect/>
          </a:stretch>
        </p:blipFill>
        <p:spPr>
          <a:xfrm>
            <a:off x="1195387" y="2174341"/>
            <a:ext cx="4881563" cy="125773"/>
          </a:xfrm>
          <a:prstGeom prst="rect">
            <a:avLst/>
          </a:prstGeom>
        </p:spPr>
      </p:pic>
    </p:spTree>
    <p:extLst>
      <p:ext uri="{BB962C8B-B14F-4D97-AF65-F5344CB8AC3E}">
        <p14:creationId xmlns:p14="http://schemas.microsoft.com/office/powerpoint/2010/main" val="1537291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66DFEAA-4959-D101-D337-B1DBE1CD7920}"/>
              </a:ext>
            </a:extLst>
          </p:cNvPr>
          <p:cNvSpPr>
            <a:spLocks noGrp="1"/>
          </p:cNvSpPr>
          <p:nvPr>
            <p:ph type="title"/>
          </p:nvPr>
        </p:nvSpPr>
        <p:spPr/>
        <p:txBody>
          <a:bodyPr/>
          <a:lstStyle/>
          <a:p>
            <a:r>
              <a:rPr lang="de-DE" dirty="0"/>
              <a:t>Bewertungen auswählen (2)</a:t>
            </a:r>
          </a:p>
        </p:txBody>
      </p:sp>
      <p:pic>
        <p:nvPicPr>
          <p:cNvPr id="5" name="Inhaltsplatzhalter 4">
            <a:extLst>
              <a:ext uri="{FF2B5EF4-FFF2-40B4-BE49-F238E27FC236}">
                <a16:creationId xmlns:a16="http://schemas.microsoft.com/office/drawing/2014/main" id="{92A6E1EF-27F0-4703-D95C-9B91B69127B5}"/>
              </a:ext>
            </a:extLst>
          </p:cNvPr>
          <p:cNvPicPr>
            <a:picLocks noGrp="1" noChangeAspect="1"/>
          </p:cNvPicPr>
          <p:nvPr>
            <p:ph idx="1"/>
          </p:nvPr>
        </p:nvPicPr>
        <p:blipFill>
          <a:blip r:embed="rId2"/>
          <a:stretch>
            <a:fillRect/>
          </a:stretch>
        </p:blipFill>
        <p:spPr>
          <a:xfrm>
            <a:off x="838200" y="2211374"/>
            <a:ext cx="10515600" cy="1474748"/>
          </a:xfrm>
        </p:spPr>
      </p:pic>
      <p:cxnSp>
        <p:nvCxnSpPr>
          <p:cNvPr id="6" name="Gerade Verbindung mit Pfeil 5">
            <a:extLst>
              <a:ext uri="{FF2B5EF4-FFF2-40B4-BE49-F238E27FC236}">
                <a16:creationId xmlns:a16="http://schemas.microsoft.com/office/drawing/2014/main" id="{F8BD952C-10B0-BDD9-8832-9DA8ADE0E4CF}"/>
              </a:ext>
            </a:extLst>
          </p:cNvPr>
          <p:cNvCxnSpPr>
            <a:cxnSpLocks/>
          </p:cNvCxnSpPr>
          <p:nvPr/>
        </p:nvCxnSpPr>
        <p:spPr>
          <a:xfrm flipH="1" flipV="1">
            <a:off x="10444203" y="3136900"/>
            <a:ext cx="179347" cy="2603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EA7E7280-439F-DDBD-06C2-079C5D4F3D97}"/>
              </a:ext>
            </a:extLst>
          </p:cNvPr>
          <p:cNvSpPr txBox="1"/>
          <p:nvPr/>
        </p:nvSpPr>
        <p:spPr>
          <a:xfrm>
            <a:off x="4731969" y="4456144"/>
            <a:ext cx="3630572" cy="1200329"/>
          </a:xfrm>
          <a:prstGeom prst="rect">
            <a:avLst/>
          </a:prstGeom>
          <a:noFill/>
        </p:spPr>
        <p:txBody>
          <a:bodyPr wrap="square" rtlCol="0">
            <a:spAutoFit/>
          </a:bodyPr>
          <a:lstStyle/>
          <a:p>
            <a:r>
              <a:rPr lang="de-DE" dirty="0"/>
              <a:t>Nachdem Sie alle Bewertungen innerhalb einer Reihe vorgenommen haben, folgt der nächste Schritt. Klicken Sie auf „Prüfen“.</a:t>
            </a:r>
          </a:p>
        </p:txBody>
      </p:sp>
      <p:pic>
        <p:nvPicPr>
          <p:cNvPr id="3" name="Inhaltsplatzhalter 11">
            <a:extLst>
              <a:ext uri="{FF2B5EF4-FFF2-40B4-BE49-F238E27FC236}">
                <a16:creationId xmlns:a16="http://schemas.microsoft.com/office/drawing/2014/main" id="{B38A7F24-ECE6-38AE-EF87-BF1D7086D504}"/>
              </a:ext>
            </a:extLst>
          </p:cNvPr>
          <p:cNvPicPr>
            <a:picLocks noChangeAspect="1"/>
          </p:cNvPicPr>
          <p:nvPr/>
        </p:nvPicPr>
        <p:blipFill>
          <a:blip r:embed="rId3"/>
          <a:stretch>
            <a:fillRect/>
          </a:stretch>
        </p:blipFill>
        <p:spPr>
          <a:xfrm>
            <a:off x="1084263" y="2666929"/>
            <a:ext cx="1144588" cy="334811"/>
          </a:xfrm>
          <a:prstGeom prst="rect">
            <a:avLst/>
          </a:prstGeom>
        </p:spPr>
      </p:pic>
      <p:pic>
        <p:nvPicPr>
          <p:cNvPr id="4" name="Grafik 3">
            <a:extLst>
              <a:ext uri="{FF2B5EF4-FFF2-40B4-BE49-F238E27FC236}">
                <a16:creationId xmlns:a16="http://schemas.microsoft.com/office/drawing/2014/main" id="{199D2F7B-AC67-1018-12D8-1222164FAEC0}"/>
              </a:ext>
            </a:extLst>
          </p:cNvPr>
          <p:cNvPicPr>
            <a:picLocks noChangeAspect="1"/>
          </p:cNvPicPr>
          <p:nvPr/>
        </p:nvPicPr>
        <p:blipFill>
          <a:blip r:embed="rId4"/>
          <a:stretch>
            <a:fillRect/>
          </a:stretch>
        </p:blipFill>
        <p:spPr>
          <a:xfrm>
            <a:off x="1189037" y="2428341"/>
            <a:ext cx="4881563" cy="125773"/>
          </a:xfrm>
          <a:prstGeom prst="rect">
            <a:avLst/>
          </a:prstGeom>
        </p:spPr>
      </p:pic>
    </p:spTree>
    <p:extLst>
      <p:ext uri="{BB962C8B-B14F-4D97-AF65-F5344CB8AC3E}">
        <p14:creationId xmlns:p14="http://schemas.microsoft.com/office/powerpoint/2010/main" val="3334901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nhaltsplatzhalter 19">
            <a:extLst>
              <a:ext uri="{FF2B5EF4-FFF2-40B4-BE49-F238E27FC236}">
                <a16:creationId xmlns:a16="http://schemas.microsoft.com/office/drawing/2014/main" id="{B8810FB3-B5A5-F672-F6F8-922C5C24EE05}"/>
              </a:ext>
            </a:extLst>
          </p:cNvPr>
          <p:cNvPicPr>
            <a:picLocks noGrp="1" noChangeAspect="1"/>
          </p:cNvPicPr>
          <p:nvPr>
            <p:ph idx="1"/>
          </p:nvPr>
        </p:nvPicPr>
        <p:blipFill>
          <a:blip r:embed="rId2"/>
          <a:stretch>
            <a:fillRect/>
          </a:stretch>
        </p:blipFill>
        <p:spPr>
          <a:xfrm>
            <a:off x="459127" y="1774825"/>
            <a:ext cx="4614523" cy="4351338"/>
          </a:xfrm>
        </p:spPr>
      </p:pic>
      <p:sp>
        <p:nvSpPr>
          <p:cNvPr id="2" name="Titel 1">
            <a:extLst>
              <a:ext uri="{FF2B5EF4-FFF2-40B4-BE49-F238E27FC236}">
                <a16:creationId xmlns:a16="http://schemas.microsoft.com/office/drawing/2014/main" id="{818C8F48-C60E-2AC8-E08A-6CE1FB3E04AC}"/>
              </a:ext>
            </a:extLst>
          </p:cNvPr>
          <p:cNvSpPr>
            <a:spLocks noGrp="1"/>
          </p:cNvSpPr>
          <p:nvPr>
            <p:ph type="title"/>
          </p:nvPr>
        </p:nvSpPr>
        <p:spPr/>
        <p:txBody>
          <a:bodyPr/>
          <a:lstStyle/>
          <a:p>
            <a:r>
              <a:rPr lang="de-DE" dirty="0"/>
              <a:t>Der „Prüfen“-Dialog (1) - Übersicht</a:t>
            </a:r>
          </a:p>
        </p:txBody>
      </p:sp>
      <p:sp>
        <p:nvSpPr>
          <p:cNvPr id="7" name="Rechteck 6">
            <a:extLst>
              <a:ext uri="{FF2B5EF4-FFF2-40B4-BE49-F238E27FC236}">
                <a16:creationId xmlns:a16="http://schemas.microsoft.com/office/drawing/2014/main" id="{820937EE-B476-C61B-CC3E-696D7D22D541}"/>
              </a:ext>
            </a:extLst>
          </p:cNvPr>
          <p:cNvSpPr/>
          <p:nvPr/>
        </p:nvSpPr>
        <p:spPr>
          <a:xfrm>
            <a:off x="835989" y="2376209"/>
            <a:ext cx="2216458" cy="408782"/>
          </a:xfrm>
          <a:prstGeom prst="rect">
            <a:avLst/>
          </a:prstGeom>
          <a:solidFill>
            <a:srgbClr val="DAE3F3">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1" name="Textfeld 10">
            <a:extLst>
              <a:ext uri="{FF2B5EF4-FFF2-40B4-BE49-F238E27FC236}">
                <a16:creationId xmlns:a16="http://schemas.microsoft.com/office/drawing/2014/main" id="{61FBF6CF-4FF1-315D-47DE-0EE28EF84902}"/>
              </a:ext>
            </a:extLst>
          </p:cNvPr>
          <p:cNvSpPr txBox="1"/>
          <p:nvPr/>
        </p:nvSpPr>
        <p:spPr>
          <a:xfrm>
            <a:off x="1699631" y="2415658"/>
            <a:ext cx="317716" cy="369332"/>
          </a:xfrm>
          <a:prstGeom prst="rect">
            <a:avLst/>
          </a:prstGeom>
          <a:noFill/>
        </p:spPr>
        <p:txBody>
          <a:bodyPr wrap="none" rtlCol="0">
            <a:spAutoFit/>
          </a:bodyPr>
          <a:lstStyle/>
          <a:p>
            <a:r>
              <a:rPr lang="de-DE" dirty="0"/>
              <a:t>A</a:t>
            </a:r>
          </a:p>
        </p:txBody>
      </p:sp>
      <p:sp>
        <p:nvSpPr>
          <p:cNvPr id="12" name="Textfeld 11">
            <a:extLst>
              <a:ext uri="{FF2B5EF4-FFF2-40B4-BE49-F238E27FC236}">
                <a16:creationId xmlns:a16="http://schemas.microsoft.com/office/drawing/2014/main" id="{CDD7B425-C588-BA78-8E10-63B09D766EF7}"/>
              </a:ext>
            </a:extLst>
          </p:cNvPr>
          <p:cNvSpPr txBox="1"/>
          <p:nvPr/>
        </p:nvSpPr>
        <p:spPr>
          <a:xfrm>
            <a:off x="3160135" y="2230992"/>
            <a:ext cx="317716" cy="369332"/>
          </a:xfrm>
          <a:prstGeom prst="rect">
            <a:avLst/>
          </a:prstGeom>
          <a:noFill/>
        </p:spPr>
        <p:txBody>
          <a:bodyPr wrap="none" rtlCol="0">
            <a:spAutoFit/>
          </a:bodyPr>
          <a:lstStyle/>
          <a:p>
            <a:r>
              <a:rPr lang="de-DE" dirty="0"/>
              <a:t>B</a:t>
            </a:r>
          </a:p>
        </p:txBody>
      </p:sp>
      <p:sp>
        <p:nvSpPr>
          <p:cNvPr id="13" name="Rechteck 12">
            <a:extLst>
              <a:ext uri="{FF2B5EF4-FFF2-40B4-BE49-F238E27FC236}">
                <a16:creationId xmlns:a16="http://schemas.microsoft.com/office/drawing/2014/main" id="{22B5F6E2-4BA1-B180-C43A-8DBAB07C8294}"/>
              </a:ext>
            </a:extLst>
          </p:cNvPr>
          <p:cNvSpPr/>
          <p:nvPr/>
        </p:nvSpPr>
        <p:spPr>
          <a:xfrm>
            <a:off x="3092450" y="2305051"/>
            <a:ext cx="493089" cy="323850"/>
          </a:xfrm>
          <a:prstGeom prst="rect">
            <a:avLst/>
          </a:prstGeom>
          <a:solidFill>
            <a:srgbClr val="DAE3F3">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4" name="Rechteck 13">
            <a:extLst>
              <a:ext uri="{FF2B5EF4-FFF2-40B4-BE49-F238E27FC236}">
                <a16:creationId xmlns:a16="http://schemas.microsoft.com/office/drawing/2014/main" id="{A3BE5D75-1311-903A-710F-EA73F7ADCF17}"/>
              </a:ext>
            </a:extLst>
          </p:cNvPr>
          <p:cNvSpPr/>
          <p:nvPr/>
        </p:nvSpPr>
        <p:spPr>
          <a:xfrm>
            <a:off x="835995" y="5454651"/>
            <a:ext cx="2216452" cy="242904"/>
          </a:xfrm>
          <a:prstGeom prst="rect">
            <a:avLst/>
          </a:prstGeom>
          <a:solidFill>
            <a:srgbClr val="DAE3F3">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5" name="Textfeld 14">
            <a:extLst>
              <a:ext uri="{FF2B5EF4-FFF2-40B4-BE49-F238E27FC236}">
                <a16:creationId xmlns:a16="http://schemas.microsoft.com/office/drawing/2014/main" id="{6591C8AC-0173-5EA5-4C36-6138F3C84C78}"/>
              </a:ext>
            </a:extLst>
          </p:cNvPr>
          <p:cNvSpPr txBox="1"/>
          <p:nvPr/>
        </p:nvSpPr>
        <p:spPr>
          <a:xfrm>
            <a:off x="2734731" y="5391436"/>
            <a:ext cx="317716" cy="369332"/>
          </a:xfrm>
          <a:prstGeom prst="rect">
            <a:avLst/>
          </a:prstGeom>
          <a:noFill/>
        </p:spPr>
        <p:txBody>
          <a:bodyPr wrap="none" rtlCol="0">
            <a:spAutoFit/>
          </a:bodyPr>
          <a:lstStyle/>
          <a:p>
            <a:r>
              <a:rPr lang="de-DE" dirty="0"/>
              <a:t>C</a:t>
            </a:r>
          </a:p>
        </p:txBody>
      </p:sp>
      <p:sp>
        <p:nvSpPr>
          <p:cNvPr id="16" name="Textfeld 15">
            <a:extLst>
              <a:ext uri="{FF2B5EF4-FFF2-40B4-BE49-F238E27FC236}">
                <a16:creationId xmlns:a16="http://schemas.microsoft.com/office/drawing/2014/main" id="{9F726198-25AC-D79D-0ECC-37F7EA2AAC32}"/>
              </a:ext>
            </a:extLst>
          </p:cNvPr>
          <p:cNvSpPr txBox="1"/>
          <p:nvPr/>
        </p:nvSpPr>
        <p:spPr>
          <a:xfrm>
            <a:off x="5276850" y="2032000"/>
            <a:ext cx="6565900" cy="4524315"/>
          </a:xfrm>
          <a:prstGeom prst="rect">
            <a:avLst/>
          </a:prstGeom>
          <a:noFill/>
        </p:spPr>
        <p:txBody>
          <a:bodyPr wrap="square" rtlCol="0">
            <a:spAutoFit/>
          </a:bodyPr>
          <a:lstStyle/>
          <a:p>
            <a:r>
              <a:rPr lang="de-DE" dirty="0"/>
              <a:t>A: Hier steht ein Text, welcher zu der von Ihnen getroffenen Bewertungsstufe passt. Der Text wird per Zufalls aus einem der in „db.xlsx“ hinterlegten Texten zu dieser Bewertung ausgewählt. Sie können ihn nach Belieben anpassen, sofern dies in der Konfiguration so eingestellt wurde. Ansonsten ist keine Änderung möglich.</a:t>
            </a:r>
          </a:p>
          <a:p>
            <a:endParaRPr lang="de-DE" dirty="0"/>
          </a:p>
          <a:p>
            <a:r>
              <a:rPr lang="de-DE" dirty="0"/>
              <a:t>B: Wenn mehrere Texte zu einer Bewertungsstufe gespeichert sind, können Sie mit einem Klick auf „Neu generieren“ zufällig einen neuen Text erzeugen. Der alte wird dann überschrieben. Achtung: Änderungen sind dann auch verloren! Sie können Texte beliebig oft neu generieren und ggf. abändern.</a:t>
            </a:r>
          </a:p>
          <a:p>
            <a:endParaRPr lang="de-DE" dirty="0"/>
          </a:p>
          <a:p>
            <a:r>
              <a:rPr lang="de-DE" dirty="0"/>
              <a:t>C: Beim Klick auf „Sichern“ werden alle Texte, wie Sie in dem Moment zu sehen sind, intern gespeichert.</a:t>
            </a:r>
          </a:p>
          <a:p>
            <a:endParaRPr lang="de-DE" dirty="0"/>
          </a:p>
          <a:p>
            <a:r>
              <a:rPr lang="de-DE" i="1" dirty="0"/>
              <a:t>D wird auf der nächsten Seite erklärt</a:t>
            </a:r>
          </a:p>
        </p:txBody>
      </p:sp>
      <p:sp>
        <p:nvSpPr>
          <p:cNvPr id="21" name="Rechteck 20">
            <a:extLst>
              <a:ext uri="{FF2B5EF4-FFF2-40B4-BE49-F238E27FC236}">
                <a16:creationId xmlns:a16="http://schemas.microsoft.com/office/drawing/2014/main" id="{E7F867EA-5942-8E3C-F816-D4BCD7F7CC1C}"/>
              </a:ext>
            </a:extLst>
          </p:cNvPr>
          <p:cNvSpPr/>
          <p:nvPr/>
        </p:nvSpPr>
        <p:spPr>
          <a:xfrm>
            <a:off x="4343400" y="3176586"/>
            <a:ext cx="493089" cy="220664"/>
          </a:xfrm>
          <a:prstGeom prst="rect">
            <a:avLst/>
          </a:prstGeom>
          <a:solidFill>
            <a:srgbClr val="DAE3F3">
              <a:alpha val="2784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22" name="Textfeld 21">
            <a:extLst>
              <a:ext uri="{FF2B5EF4-FFF2-40B4-BE49-F238E27FC236}">
                <a16:creationId xmlns:a16="http://schemas.microsoft.com/office/drawing/2014/main" id="{AC550A91-0A21-BCBB-BBDD-27B93DD1B0A5}"/>
              </a:ext>
            </a:extLst>
          </p:cNvPr>
          <p:cNvSpPr txBox="1"/>
          <p:nvPr/>
        </p:nvSpPr>
        <p:spPr>
          <a:xfrm>
            <a:off x="4589944" y="3102252"/>
            <a:ext cx="327334" cy="369332"/>
          </a:xfrm>
          <a:prstGeom prst="rect">
            <a:avLst/>
          </a:prstGeom>
          <a:noFill/>
        </p:spPr>
        <p:txBody>
          <a:bodyPr wrap="none" rtlCol="0">
            <a:spAutoFit/>
          </a:bodyPr>
          <a:lstStyle/>
          <a:p>
            <a:r>
              <a:rPr lang="de-DE" dirty="0"/>
              <a:t>D</a:t>
            </a:r>
          </a:p>
        </p:txBody>
      </p:sp>
      <p:cxnSp>
        <p:nvCxnSpPr>
          <p:cNvPr id="23" name="Gerade Verbindung mit Pfeil 22">
            <a:extLst>
              <a:ext uri="{FF2B5EF4-FFF2-40B4-BE49-F238E27FC236}">
                <a16:creationId xmlns:a16="http://schemas.microsoft.com/office/drawing/2014/main" id="{75A9E478-CB92-EA82-BF5B-C2051677ABE2}"/>
              </a:ext>
            </a:extLst>
          </p:cNvPr>
          <p:cNvCxnSpPr>
            <a:cxnSpLocks/>
          </p:cNvCxnSpPr>
          <p:nvPr/>
        </p:nvCxnSpPr>
        <p:spPr>
          <a:xfrm flipH="1" flipV="1">
            <a:off x="3442022" y="2572785"/>
            <a:ext cx="179347" cy="2603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9428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FC3EF2-644D-D91C-81FF-C67833B4CEE0}"/>
              </a:ext>
            </a:extLst>
          </p:cNvPr>
          <p:cNvSpPr>
            <a:spLocks noGrp="1"/>
          </p:cNvSpPr>
          <p:nvPr>
            <p:ph type="title"/>
          </p:nvPr>
        </p:nvSpPr>
        <p:spPr/>
        <p:txBody>
          <a:bodyPr/>
          <a:lstStyle/>
          <a:p>
            <a:r>
              <a:rPr lang="de-DE" dirty="0"/>
              <a:t>Der „Prüfen“-Dialog (2) – Das Status-Feld</a:t>
            </a:r>
          </a:p>
        </p:txBody>
      </p:sp>
      <p:pic>
        <p:nvPicPr>
          <p:cNvPr id="5" name="Inhaltsplatzhalter 4">
            <a:extLst>
              <a:ext uri="{FF2B5EF4-FFF2-40B4-BE49-F238E27FC236}">
                <a16:creationId xmlns:a16="http://schemas.microsoft.com/office/drawing/2014/main" id="{4243F1AF-3395-451D-BA88-3C423DB8A937}"/>
              </a:ext>
            </a:extLst>
          </p:cNvPr>
          <p:cNvPicPr>
            <a:picLocks noGrp="1" noChangeAspect="1"/>
          </p:cNvPicPr>
          <p:nvPr>
            <p:ph idx="1"/>
          </p:nvPr>
        </p:nvPicPr>
        <p:blipFill>
          <a:blip r:embed="rId2"/>
          <a:stretch>
            <a:fillRect/>
          </a:stretch>
        </p:blipFill>
        <p:spPr>
          <a:xfrm>
            <a:off x="2052637" y="2276137"/>
            <a:ext cx="1266825" cy="695325"/>
          </a:xfrm>
        </p:spPr>
      </p:pic>
      <p:sp>
        <p:nvSpPr>
          <p:cNvPr id="6" name="Textfeld 5">
            <a:extLst>
              <a:ext uri="{FF2B5EF4-FFF2-40B4-BE49-F238E27FC236}">
                <a16:creationId xmlns:a16="http://schemas.microsoft.com/office/drawing/2014/main" id="{3F98087B-7235-85E4-F172-D23C4768EC4A}"/>
              </a:ext>
            </a:extLst>
          </p:cNvPr>
          <p:cNvSpPr txBox="1"/>
          <p:nvPr/>
        </p:nvSpPr>
        <p:spPr>
          <a:xfrm>
            <a:off x="5276850" y="2003551"/>
            <a:ext cx="6565900" cy="4247317"/>
          </a:xfrm>
          <a:prstGeom prst="rect">
            <a:avLst/>
          </a:prstGeom>
          <a:noFill/>
        </p:spPr>
        <p:txBody>
          <a:bodyPr wrap="square" rtlCol="0">
            <a:spAutoFit/>
          </a:bodyPr>
          <a:lstStyle/>
          <a:p>
            <a:r>
              <a:rPr lang="de-DE" dirty="0"/>
              <a:t>Auf der vorherigen Seite haben wir bereits gesehen, dass das „Status“-Feld der Zeile dessen Text wir gerade prüfen von Rot auf Gelb springt. Das bedeutet, dass bereits intern ein Text gespeichert wurde. Und zwar genau jener der Ihnen als erstes angezeigt wurde.</a:t>
            </a:r>
          </a:p>
          <a:p>
            <a:endParaRPr lang="de-DE" dirty="0"/>
          </a:p>
          <a:p>
            <a:endParaRPr lang="de-DE" dirty="0"/>
          </a:p>
          <a:p>
            <a:r>
              <a:rPr lang="de-DE" dirty="0"/>
              <a:t>Nachdem Sie alle Änderungen vorgenommen haben, klicken Sie auf „Sichern“. </a:t>
            </a:r>
          </a:p>
          <a:p>
            <a:endParaRPr lang="de-DE" i="1" dirty="0"/>
          </a:p>
          <a:p>
            <a:endParaRPr lang="de-DE" i="1" dirty="0"/>
          </a:p>
          <a:p>
            <a:r>
              <a:rPr lang="de-DE" dirty="0"/>
              <a:t>Nun färbt sich das „Status“-Feld grün. Dies bedeutet, dass die Prüfung abgeschlossen ist. Die Texte, die Ihnen als letztes angezeigt wurden, sind nun gespeichert, und der interne Status ist auf „beendet“ gestellt. </a:t>
            </a:r>
            <a:r>
              <a:rPr lang="de-DE" dirty="0">
                <a:solidFill>
                  <a:srgbClr val="FF0000"/>
                </a:solidFill>
              </a:rPr>
              <a:t>Nur Zeilen die Grün sind, werden später im „</a:t>
            </a:r>
            <a:r>
              <a:rPr lang="de-DE" dirty="0" err="1">
                <a:solidFill>
                  <a:srgbClr val="FF0000"/>
                </a:solidFill>
              </a:rPr>
              <a:t>Finalize</a:t>
            </a:r>
            <a:r>
              <a:rPr lang="de-DE" dirty="0">
                <a:solidFill>
                  <a:srgbClr val="FF0000"/>
                </a:solidFill>
              </a:rPr>
              <a:t>“-Schritt an die Vorlagendatei gesendet.</a:t>
            </a:r>
          </a:p>
        </p:txBody>
      </p:sp>
      <p:pic>
        <p:nvPicPr>
          <p:cNvPr id="8" name="Grafik 7">
            <a:extLst>
              <a:ext uri="{FF2B5EF4-FFF2-40B4-BE49-F238E27FC236}">
                <a16:creationId xmlns:a16="http://schemas.microsoft.com/office/drawing/2014/main" id="{D8BCBCDD-C0F2-CD89-5D5D-8DA657452AD4}"/>
              </a:ext>
            </a:extLst>
          </p:cNvPr>
          <p:cNvPicPr>
            <a:picLocks noChangeAspect="1"/>
          </p:cNvPicPr>
          <p:nvPr/>
        </p:nvPicPr>
        <p:blipFill>
          <a:blip r:embed="rId3"/>
          <a:stretch>
            <a:fillRect/>
          </a:stretch>
        </p:blipFill>
        <p:spPr>
          <a:xfrm>
            <a:off x="419100" y="3660098"/>
            <a:ext cx="4200525" cy="657225"/>
          </a:xfrm>
          <a:prstGeom prst="rect">
            <a:avLst/>
          </a:prstGeom>
        </p:spPr>
      </p:pic>
      <p:cxnSp>
        <p:nvCxnSpPr>
          <p:cNvPr id="9" name="Gerade Verbindung mit Pfeil 8">
            <a:extLst>
              <a:ext uri="{FF2B5EF4-FFF2-40B4-BE49-F238E27FC236}">
                <a16:creationId xmlns:a16="http://schemas.microsoft.com/office/drawing/2014/main" id="{18695A23-191E-A9D4-409A-54B36D4576DC}"/>
              </a:ext>
            </a:extLst>
          </p:cNvPr>
          <p:cNvCxnSpPr>
            <a:cxnSpLocks/>
          </p:cNvCxnSpPr>
          <p:nvPr/>
        </p:nvCxnSpPr>
        <p:spPr>
          <a:xfrm flipH="1" flipV="1">
            <a:off x="2968666" y="4014110"/>
            <a:ext cx="179347" cy="2603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 name="Grafik 10">
            <a:extLst>
              <a:ext uri="{FF2B5EF4-FFF2-40B4-BE49-F238E27FC236}">
                <a16:creationId xmlns:a16="http://schemas.microsoft.com/office/drawing/2014/main" id="{8B4B3AF2-2DEF-5B8F-8742-A91DF0A0E28D}"/>
              </a:ext>
            </a:extLst>
          </p:cNvPr>
          <p:cNvPicPr>
            <a:picLocks noChangeAspect="1"/>
          </p:cNvPicPr>
          <p:nvPr/>
        </p:nvPicPr>
        <p:blipFill rotWithShape="1">
          <a:blip r:embed="rId4"/>
          <a:srcRect l="36774" t="36330" b="19259"/>
          <a:stretch/>
        </p:blipFill>
        <p:spPr>
          <a:xfrm>
            <a:off x="2033586" y="4858322"/>
            <a:ext cx="1312862" cy="748727"/>
          </a:xfrm>
          <a:prstGeom prst="rect">
            <a:avLst/>
          </a:prstGeom>
        </p:spPr>
      </p:pic>
    </p:spTree>
    <p:extLst>
      <p:ext uri="{BB962C8B-B14F-4D97-AF65-F5344CB8AC3E}">
        <p14:creationId xmlns:p14="http://schemas.microsoft.com/office/powerpoint/2010/main" val="3163518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AEF09E-7E92-C7F3-373A-AF108972059E}"/>
              </a:ext>
            </a:extLst>
          </p:cNvPr>
          <p:cNvSpPr>
            <a:spLocks noGrp="1"/>
          </p:cNvSpPr>
          <p:nvPr>
            <p:ph type="title"/>
          </p:nvPr>
        </p:nvSpPr>
        <p:spPr/>
        <p:txBody>
          <a:bodyPr/>
          <a:lstStyle/>
          <a:p>
            <a:r>
              <a:rPr lang="de-DE" dirty="0"/>
              <a:t>Sitzung speichern</a:t>
            </a:r>
          </a:p>
        </p:txBody>
      </p:sp>
      <p:pic>
        <p:nvPicPr>
          <p:cNvPr id="5" name="Inhaltsplatzhalter 4">
            <a:extLst>
              <a:ext uri="{FF2B5EF4-FFF2-40B4-BE49-F238E27FC236}">
                <a16:creationId xmlns:a16="http://schemas.microsoft.com/office/drawing/2014/main" id="{86E6F5E7-816F-EEFC-2175-3EADD9D9DE05}"/>
              </a:ext>
            </a:extLst>
          </p:cNvPr>
          <p:cNvPicPr>
            <a:picLocks noGrp="1" noChangeAspect="1"/>
          </p:cNvPicPr>
          <p:nvPr>
            <p:ph idx="1"/>
          </p:nvPr>
        </p:nvPicPr>
        <p:blipFill>
          <a:blip r:embed="rId2"/>
          <a:stretch>
            <a:fillRect/>
          </a:stretch>
        </p:blipFill>
        <p:spPr>
          <a:xfrm>
            <a:off x="838200" y="1464970"/>
            <a:ext cx="10515600" cy="3535947"/>
          </a:xfrm>
        </p:spPr>
      </p:pic>
      <p:sp>
        <p:nvSpPr>
          <p:cNvPr id="6" name="Textfeld 5">
            <a:extLst>
              <a:ext uri="{FF2B5EF4-FFF2-40B4-BE49-F238E27FC236}">
                <a16:creationId xmlns:a16="http://schemas.microsoft.com/office/drawing/2014/main" id="{2E12405C-2238-1563-F6B7-35EADF1B3EAD}"/>
              </a:ext>
            </a:extLst>
          </p:cNvPr>
          <p:cNvSpPr txBox="1"/>
          <p:nvPr/>
        </p:nvSpPr>
        <p:spPr>
          <a:xfrm>
            <a:off x="3062953" y="5041754"/>
            <a:ext cx="6565900" cy="1477328"/>
          </a:xfrm>
          <a:prstGeom prst="rect">
            <a:avLst/>
          </a:prstGeom>
          <a:noFill/>
        </p:spPr>
        <p:txBody>
          <a:bodyPr wrap="square" rtlCol="0">
            <a:spAutoFit/>
          </a:bodyPr>
          <a:lstStyle/>
          <a:p>
            <a:r>
              <a:rPr lang="de-DE" dirty="0"/>
              <a:t>Wenn Sie nicht alle Bewertungen in einer Sitzung beenden können, können Sie mit einem Klick auf „Sitzung speichern“ den aktuellen Stand abspeichern. Alle Bewertungen und auch alle Texte werden in einer „.</a:t>
            </a:r>
            <a:r>
              <a:rPr lang="de-DE" dirty="0" err="1"/>
              <a:t>session</a:t>
            </a:r>
            <a:r>
              <a:rPr lang="de-DE" dirty="0"/>
              <a:t>“-Datei gespeichert. Näheres hierzu, siehe </a:t>
            </a:r>
            <a:r>
              <a:rPr lang="de-DE" dirty="0">
                <a:hlinkClick r:id="rId3" action="ppaction://hlinksldjump"/>
              </a:rPr>
              <a:t>F: Sitzung speichern-Button</a:t>
            </a:r>
            <a:endParaRPr lang="de-DE" dirty="0"/>
          </a:p>
        </p:txBody>
      </p:sp>
      <p:pic>
        <p:nvPicPr>
          <p:cNvPr id="3" name="Inhaltsplatzhalter 11">
            <a:extLst>
              <a:ext uri="{FF2B5EF4-FFF2-40B4-BE49-F238E27FC236}">
                <a16:creationId xmlns:a16="http://schemas.microsoft.com/office/drawing/2014/main" id="{815AE6B5-0CCE-1BA6-76C6-B5B251EBD5AB}"/>
              </a:ext>
            </a:extLst>
          </p:cNvPr>
          <p:cNvPicPr>
            <a:picLocks noChangeAspect="1"/>
          </p:cNvPicPr>
          <p:nvPr/>
        </p:nvPicPr>
        <p:blipFill>
          <a:blip r:embed="rId4"/>
          <a:stretch>
            <a:fillRect/>
          </a:stretch>
        </p:blipFill>
        <p:spPr>
          <a:xfrm>
            <a:off x="1154113" y="1954727"/>
            <a:ext cx="1144588" cy="334811"/>
          </a:xfrm>
          <a:prstGeom prst="rect">
            <a:avLst/>
          </a:prstGeom>
        </p:spPr>
      </p:pic>
      <p:pic>
        <p:nvPicPr>
          <p:cNvPr id="4" name="Grafik 3">
            <a:extLst>
              <a:ext uri="{FF2B5EF4-FFF2-40B4-BE49-F238E27FC236}">
                <a16:creationId xmlns:a16="http://schemas.microsoft.com/office/drawing/2014/main" id="{A185CA1B-8A0B-5FB5-367F-2D58600FDB0D}"/>
              </a:ext>
            </a:extLst>
          </p:cNvPr>
          <p:cNvPicPr>
            <a:picLocks noChangeAspect="1"/>
          </p:cNvPicPr>
          <p:nvPr/>
        </p:nvPicPr>
        <p:blipFill>
          <a:blip r:embed="rId5"/>
          <a:stretch>
            <a:fillRect/>
          </a:stretch>
        </p:blipFill>
        <p:spPr>
          <a:xfrm>
            <a:off x="1290637" y="1731525"/>
            <a:ext cx="4881563" cy="125773"/>
          </a:xfrm>
          <a:prstGeom prst="rect">
            <a:avLst/>
          </a:prstGeom>
        </p:spPr>
      </p:pic>
    </p:spTree>
    <p:extLst>
      <p:ext uri="{BB962C8B-B14F-4D97-AF65-F5344CB8AC3E}">
        <p14:creationId xmlns:p14="http://schemas.microsoft.com/office/powerpoint/2010/main" val="3484587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D106A6-7801-AD42-882A-2EDDAB0F43DA}"/>
              </a:ext>
            </a:extLst>
          </p:cNvPr>
          <p:cNvSpPr>
            <a:spLocks noGrp="1"/>
          </p:cNvSpPr>
          <p:nvPr>
            <p:ph type="title"/>
          </p:nvPr>
        </p:nvSpPr>
        <p:spPr/>
        <p:txBody>
          <a:bodyPr/>
          <a:lstStyle/>
          <a:p>
            <a:r>
              <a:rPr lang="de-DE" dirty="0"/>
              <a:t>Finalisierten Stand speichern</a:t>
            </a:r>
          </a:p>
        </p:txBody>
      </p:sp>
      <p:pic>
        <p:nvPicPr>
          <p:cNvPr id="5" name="Inhaltsplatzhalter 4">
            <a:extLst>
              <a:ext uri="{FF2B5EF4-FFF2-40B4-BE49-F238E27FC236}">
                <a16:creationId xmlns:a16="http://schemas.microsoft.com/office/drawing/2014/main" id="{408BB74B-DD53-713A-3B21-C4D69F6322A4}"/>
              </a:ext>
            </a:extLst>
          </p:cNvPr>
          <p:cNvPicPr>
            <a:picLocks noGrp="1" noChangeAspect="1"/>
          </p:cNvPicPr>
          <p:nvPr>
            <p:ph idx="1"/>
          </p:nvPr>
        </p:nvPicPr>
        <p:blipFill>
          <a:blip r:embed="rId2"/>
          <a:stretch>
            <a:fillRect/>
          </a:stretch>
        </p:blipFill>
        <p:spPr>
          <a:xfrm>
            <a:off x="838200" y="1531759"/>
            <a:ext cx="10515600" cy="3605569"/>
          </a:xfrm>
        </p:spPr>
      </p:pic>
      <p:cxnSp>
        <p:nvCxnSpPr>
          <p:cNvPr id="6" name="Gerade Verbindung mit Pfeil 5">
            <a:extLst>
              <a:ext uri="{FF2B5EF4-FFF2-40B4-BE49-F238E27FC236}">
                <a16:creationId xmlns:a16="http://schemas.microsoft.com/office/drawing/2014/main" id="{420CBF9F-764B-7A05-CE16-D7F9AD0D95F7}"/>
              </a:ext>
            </a:extLst>
          </p:cNvPr>
          <p:cNvCxnSpPr>
            <a:cxnSpLocks/>
          </p:cNvCxnSpPr>
          <p:nvPr/>
        </p:nvCxnSpPr>
        <p:spPr>
          <a:xfrm flipH="1" flipV="1">
            <a:off x="10194966" y="2242460"/>
            <a:ext cx="179347" cy="2603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D39BAA26-0455-74EB-563B-947CBB4A7840}"/>
              </a:ext>
            </a:extLst>
          </p:cNvPr>
          <p:cNvSpPr txBox="1"/>
          <p:nvPr/>
        </p:nvSpPr>
        <p:spPr>
          <a:xfrm>
            <a:off x="2641600" y="5137328"/>
            <a:ext cx="7124700" cy="1200329"/>
          </a:xfrm>
          <a:prstGeom prst="rect">
            <a:avLst/>
          </a:prstGeom>
          <a:noFill/>
        </p:spPr>
        <p:txBody>
          <a:bodyPr wrap="square" rtlCol="0">
            <a:spAutoFit/>
          </a:bodyPr>
          <a:lstStyle/>
          <a:p>
            <a:r>
              <a:rPr lang="de-DE" dirty="0"/>
              <a:t>Wenn </a:t>
            </a:r>
            <a:r>
              <a:rPr lang="de-DE" dirty="0">
                <a:solidFill>
                  <a:srgbClr val="FF0000"/>
                </a:solidFill>
              </a:rPr>
              <a:t>alle</a:t>
            </a:r>
            <a:r>
              <a:rPr lang="de-DE" dirty="0"/>
              <a:t> Zeilen Grün und somit fertig geprüft sind, speichert ein Klick auf „Sitzung speichern“ neben der „.</a:t>
            </a:r>
            <a:r>
              <a:rPr lang="de-DE" dirty="0" err="1"/>
              <a:t>session</a:t>
            </a:r>
            <a:r>
              <a:rPr lang="de-DE" dirty="0"/>
              <a:t>“-Datei eine gleichnamige „.final“-Datei. Diese lässt sich nicht mehr ändern UND nicht in dieser Eingabemaske laden. Sie ist für den Export im „</a:t>
            </a:r>
            <a:r>
              <a:rPr lang="de-DE" dirty="0" err="1"/>
              <a:t>Finalize</a:t>
            </a:r>
            <a:r>
              <a:rPr lang="de-DE" dirty="0"/>
              <a:t>“-Schritt bestimmt.</a:t>
            </a:r>
          </a:p>
        </p:txBody>
      </p:sp>
      <p:pic>
        <p:nvPicPr>
          <p:cNvPr id="3" name="Inhaltsplatzhalter 11">
            <a:extLst>
              <a:ext uri="{FF2B5EF4-FFF2-40B4-BE49-F238E27FC236}">
                <a16:creationId xmlns:a16="http://schemas.microsoft.com/office/drawing/2014/main" id="{477A217B-DF69-2596-C142-8D0FE5A4BA9D}"/>
              </a:ext>
            </a:extLst>
          </p:cNvPr>
          <p:cNvPicPr>
            <a:picLocks noChangeAspect="1"/>
          </p:cNvPicPr>
          <p:nvPr/>
        </p:nvPicPr>
        <p:blipFill>
          <a:blip r:embed="rId3"/>
          <a:stretch>
            <a:fillRect/>
          </a:stretch>
        </p:blipFill>
        <p:spPr>
          <a:xfrm>
            <a:off x="1166813" y="2075054"/>
            <a:ext cx="1144588" cy="334811"/>
          </a:xfrm>
          <a:prstGeom prst="rect">
            <a:avLst/>
          </a:prstGeom>
        </p:spPr>
      </p:pic>
      <p:pic>
        <p:nvPicPr>
          <p:cNvPr id="4" name="Grafik 3">
            <a:extLst>
              <a:ext uri="{FF2B5EF4-FFF2-40B4-BE49-F238E27FC236}">
                <a16:creationId xmlns:a16="http://schemas.microsoft.com/office/drawing/2014/main" id="{6AC596D3-2D2E-4C13-F415-E0A22D7B4FDC}"/>
              </a:ext>
            </a:extLst>
          </p:cNvPr>
          <p:cNvPicPr>
            <a:picLocks noChangeAspect="1"/>
          </p:cNvPicPr>
          <p:nvPr/>
        </p:nvPicPr>
        <p:blipFill>
          <a:blip r:embed="rId4"/>
          <a:stretch>
            <a:fillRect/>
          </a:stretch>
        </p:blipFill>
        <p:spPr>
          <a:xfrm>
            <a:off x="1303338" y="1852887"/>
            <a:ext cx="4881563" cy="125773"/>
          </a:xfrm>
          <a:prstGeom prst="rect">
            <a:avLst/>
          </a:prstGeom>
        </p:spPr>
      </p:pic>
    </p:spTree>
    <p:extLst>
      <p:ext uri="{BB962C8B-B14F-4D97-AF65-F5344CB8AC3E}">
        <p14:creationId xmlns:p14="http://schemas.microsoft.com/office/powerpoint/2010/main" val="2550189683"/>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916</Words>
  <Application>Microsoft Office PowerPoint</Application>
  <PresentationFormat>Breitbild</PresentationFormat>
  <Paragraphs>93</Paragraphs>
  <Slides>19</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19</vt:i4>
      </vt:variant>
    </vt:vector>
  </HeadingPairs>
  <TitlesOfParts>
    <vt:vector size="23" baseType="lpstr">
      <vt:lpstr>Arial</vt:lpstr>
      <vt:lpstr>Calibri</vt:lpstr>
      <vt:lpstr>Calibri Light</vt:lpstr>
      <vt:lpstr>Office</vt:lpstr>
      <vt:lpstr>Wie erstelle ich Texte mit Kevin?</vt:lpstr>
      <vt:lpstr>Erklärungen zur Dokumentation</vt:lpstr>
      <vt:lpstr>Kevin öffnen</vt:lpstr>
      <vt:lpstr>Konfigurationsdatei laden</vt:lpstr>
      <vt:lpstr>Übersicht</vt:lpstr>
      <vt:lpstr>A: Titelzeile</vt:lpstr>
      <vt:lpstr>B: Frage stellen oder Fehler melden per E-Mail</vt:lpstr>
      <vt:lpstr>C: Liste</vt:lpstr>
      <vt:lpstr>D: Bewertungskriterien</vt:lpstr>
      <vt:lpstr>E: Dropdown-Menüs</vt:lpstr>
      <vt:lpstr>F: Sitzung speichern-Button</vt:lpstr>
      <vt:lpstr>G: Text prüfen</vt:lpstr>
      <vt:lpstr>H: Statusleiste</vt:lpstr>
      <vt:lpstr>Bewertungen auswählen (1)</vt:lpstr>
      <vt:lpstr>Bewertungen auswählen (2)</vt:lpstr>
      <vt:lpstr>Der „Prüfen“-Dialog (1) - Übersicht</vt:lpstr>
      <vt:lpstr>Der „Prüfen“-Dialog (2) – Das Status-Feld</vt:lpstr>
      <vt:lpstr>Sitzung speichern</vt:lpstr>
      <vt:lpstr>Finalisierten Stand speichern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Wie erstelle ich Texte mit Kevin?</dc:title>
  <dc:creator>Martin Paridon</dc:creator>
  <cp:lastModifiedBy>Martin Paridon</cp:lastModifiedBy>
  <cp:revision>61</cp:revision>
  <dcterms:created xsi:type="dcterms:W3CDTF">2023-08-17T10:18:21Z</dcterms:created>
  <dcterms:modified xsi:type="dcterms:W3CDTF">2026-04-09T17:19:46Z</dcterms:modified>
</cp:coreProperties>
</file>